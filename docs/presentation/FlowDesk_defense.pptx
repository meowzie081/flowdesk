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def815e034e51" /><Relationship Type="http://schemas.openxmlformats.org/officeDocument/2006/relationships/extended-properties" Target="/docProps/app.xml" Id="R3f6ee794cda8431d" /><Relationship Type="http://schemas.openxmlformats.org/officeDocument/2006/relationships/officeDocument" Target="/ppt/presentation.xml" Id="R2eed0f4be2024e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85ce34c6e34920"/>
  </p:sldMasterIdLst>
  <p:notesMasterIdLst>
    <p:notesMasterId xmlns:r="http://schemas.openxmlformats.org/officeDocument/2006/relationships" r:id="Ra57ead68abdc4add"/>
  </p:notesMasterIdLst>
  <p:sldIdLst>
    <p:sldId xmlns:r="http://schemas.openxmlformats.org/officeDocument/2006/relationships" id="256" r:id="Rc339c159e4954ca4"/>
    <p:sldId xmlns:r="http://schemas.openxmlformats.org/officeDocument/2006/relationships" id="257" r:id="R46e73acb93f24622"/>
    <p:sldId xmlns:r="http://schemas.openxmlformats.org/officeDocument/2006/relationships" id="258" r:id="Reb2b05db078f4d4a"/>
    <p:sldId xmlns:r="http://schemas.openxmlformats.org/officeDocument/2006/relationships" id="259" r:id="R5cc210f3abc34b1b"/>
    <p:sldId xmlns:r="http://schemas.openxmlformats.org/officeDocument/2006/relationships" id="260" r:id="R5d2c4a8248024ecd"/>
    <p:sldId xmlns:r="http://schemas.openxmlformats.org/officeDocument/2006/relationships" id="261" r:id="R307a9824b4144616"/>
    <p:sldId xmlns:r="http://schemas.openxmlformats.org/officeDocument/2006/relationships" id="262" r:id="R82fb9bf241ec4990"/>
    <p:sldId xmlns:r="http://schemas.openxmlformats.org/officeDocument/2006/relationships" id="263" r:id="Ree0a516eda594680"/>
    <p:sldId xmlns:r="http://schemas.openxmlformats.org/officeDocument/2006/relationships" id="264" r:id="R47e4d278bb2e48ac"/>
    <p:sldId xmlns:r="http://schemas.openxmlformats.org/officeDocument/2006/relationships" id="265" r:id="R49b983811d354c95"/>
    <p:sldId xmlns:r="http://schemas.openxmlformats.org/officeDocument/2006/relationships" id="266" r:id="R6dadaee45e7845c0"/>
    <p:sldId xmlns:r="http://schemas.openxmlformats.org/officeDocument/2006/relationships" id="267" r:id="R0e6f4d0498e448a3"/>
    <p:sldId xmlns:r="http://schemas.openxmlformats.org/officeDocument/2006/relationships" id="268" r:id="R3079f4433f0a48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abba00a5f4779" /><Relationship Type="http://schemas.openxmlformats.org/officeDocument/2006/relationships/slideMaster" Target="/ppt/slideMasters/slideMaster1.xml" Id="R4d85ce34c6e34920" /><Relationship Type="http://schemas.openxmlformats.org/officeDocument/2006/relationships/notesMaster" Target="/ppt/notesMasters/notesMaster1.xml" Id="Ra57ead68abdc4add" /><Relationship Type="http://schemas.openxmlformats.org/officeDocument/2006/relationships/presProps" Target="/ppt/presProps.xml" Id="Rd6eedd30f18845df" /><Relationship Type="http://schemas.openxmlformats.org/officeDocument/2006/relationships/tableStyles" Target="/ppt/tableStyles.xml" Id="R7336def699e6451c" /><Relationship Type="http://schemas.openxmlformats.org/officeDocument/2006/relationships/slide" Target="/ppt/slides/slide1.xml" Id="Rc339c159e4954ca4" /><Relationship Type="http://schemas.openxmlformats.org/officeDocument/2006/relationships/slide" Target="/ppt/slides/slide2.xml" Id="R46e73acb93f24622" /><Relationship Type="http://schemas.openxmlformats.org/officeDocument/2006/relationships/slide" Target="/ppt/slides/slide3.xml" Id="Reb2b05db078f4d4a" /><Relationship Type="http://schemas.openxmlformats.org/officeDocument/2006/relationships/slide" Target="/ppt/slides/slide4.xml" Id="R5cc210f3abc34b1b" /><Relationship Type="http://schemas.openxmlformats.org/officeDocument/2006/relationships/slide" Target="/ppt/slides/slide5.xml" Id="R5d2c4a8248024ecd" /><Relationship Type="http://schemas.openxmlformats.org/officeDocument/2006/relationships/slide" Target="/ppt/slides/slide6.xml" Id="R307a9824b4144616" /><Relationship Type="http://schemas.openxmlformats.org/officeDocument/2006/relationships/slide" Target="/ppt/slides/slide7.xml" Id="R82fb9bf241ec4990" /><Relationship Type="http://schemas.openxmlformats.org/officeDocument/2006/relationships/slide" Target="/ppt/slides/slide8.xml" Id="Ree0a516eda594680" /><Relationship Type="http://schemas.openxmlformats.org/officeDocument/2006/relationships/slide" Target="/ppt/slides/slide9.xml" Id="R47e4d278bb2e48ac" /><Relationship Type="http://schemas.openxmlformats.org/officeDocument/2006/relationships/slide" Target="/ppt/slides/slide10.xml" Id="R49b983811d354c95" /><Relationship Type="http://schemas.openxmlformats.org/officeDocument/2006/relationships/slide" Target="/ppt/slides/slide11.xml" Id="R6dadaee45e7845c0" /><Relationship Type="http://schemas.openxmlformats.org/officeDocument/2006/relationships/slide" Target="/ppt/slides/slide12.xml" Id="R0e6f4d0498e448a3" /><Relationship Type="http://schemas.openxmlformats.org/officeDocument/2006/relationships/slide" Target="/ppt/slides/slide13.xml" Id="R3079f4433f0a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85194a8524d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6445f75c244f9" /><Relationship Type="http://schemas.openxmlformats.org/officeDocument/2006/relationships/notesMaster" Target="/ppt/notesMasters/notesMaster1.xml" Id="R166dbf1bc502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2e3f07eb6e47f0" /><Relationship Type="http://schemas.openxmlformats.org/officeDocument/2006/relationships/notesMaster" Target="/ppt/notesMasters/notesMaster1.xml" Id="R1699a47c079445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4f33db1e947a6" /><Relationship Type="http://schemas.openxmlformats.org/officeDocument/2006/relationships/notesMaster" Target="/ppt/notesMasters/notesMaster1.xml" Id="R7da4d609d8ac49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838d264284806" /><Relationship Type="http://schemas.openxmlformats.org/officeDocument/2006/relationships/notesMaster" Target="/ppt/notesMasters/notesMaster1.xml" Id="Rc07de062a5274d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fb23e8d484460" /><Relationship Type="http://schemas.openxmlformats.org/officeDocument/2006/relationships/notesMaster" Target="/ppt/notesMasters/notesMaster1.xml" Id="Rd00112a6a26947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22746d11d74714" /><Relationship Type="http://schemas.openxmlformats.org/officeDocument/2006/relationships/notesMaster" Target="/ppt/notesMasters/notesMaster1.xml" Id="R2cef391d47054f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662467b0644ff6" /><Relationship Type="http://schemas.openxmlformats.org/officeDocument/2006/relationships/notesMaster" Target="/ppt/notesMasters/notesMaster1.xml" Id="Ree075f818bbd49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0b2fd2010b4fb9" /><Relationship Type="http://schemas.openxmlformats.org/officeDocument/2006/relationships/notesMaster" Target="/ppt/notesMasters/notesMaster1.xml" Id="R0aa16b908253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6d33be01bc43e6" /><Relationship Type="http://schemas.openxmlformats.org/officeDocument/2006/relationships/notesMaster" Target="/ppt/notesMasters/notesMaster1.xml" Id="R4c7a3fcd7ead40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cf6a356548402f" /><Relationship Type="http://schemas.openxmlformats.org/officeDocument/2006/relationships/notesMaster" Target="/ppt/notesMasters/notesMaster1.xml" Id="Ref0de34fd4eb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2e260ae21f4650" /><Relationship Type="http://schemas.openxmlformats.org/officeDocument/2006/relationships/notesMaster" Target="/ppt/notesMasters/notesMaster1.xml" Id="R518e7bed640f40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610e792234493f" /><Relationship Type="http://schemas.openxmlformats.org/officeDocument/2006/relationships/notesMaster" Target="/ppt/notesMasters/notesMaster1.xml" Id="R17dda609722c48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bde532e881452c" /><Relationship Type="http://schemas.openxmlformats.org/officeDocument/2006/relationships/notesMaster" Target="/ppt/notesMasters/notesMaster1.xml" Id="Rdca814fa9f1745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Представить проект без заявления о подтверждённой экономии времени. Имя автора намеренно не подставлено: для этого проекта пользователь его не указал. Сведения: README.md и docs/REQUIREMENTS.md.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docs/REQUIREMENTS.md. Проблема и целевая аудитория описаны как гипотеза, интервью и измерение эффекта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src/app, supabase/migrations, Dockerfile, docker-compose.yml. Внешний Supabase требует настройки.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Board.tsx и TaskDetail.tsx. Скриншот с демонстрационными данными, рабочие внешние сервисы подменены. Показать создание, исполнителя, срок, чек-лист и перемещение.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Chat.tsx, миграции 0009/0010. Скриншот с демонстрационными данными. Показать ветку, вложение и создание задачи из сообщения.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TaskExplorer.tsx, workflow.ts и workflow.test.ts. Скриншот с демонстрационными данными. На октябрь 2026 требуется 35 ячеек.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src/lib/ai/prompts.ts, commands.ts, api/ai/route.ts. Работа зависит от провайдера и ключа. Создание AI-черновиков подтверждает пользователь.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supabase/migrations, managed-accounts.ts, api/files/preview/route.ts, ai/mask.ts. Механизмы и тесты не заменяют независимый аудит.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analytics-client.ts, GoogleAnalytics.tsx, docs/ANALYTICS.md. Google tag в UI-проверках подменён. Реальный поток требует Measurement ID и отключения Enhanced measurement. https://developers.google.com/analytics/devguides/collection/ga4/views ; https://developers.google.com/tag-platform/security/guides/privacy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docs/AI_DEVELOPMENT.md. Документ реконструирует видимую переписку, не является полным журналом. Анализ конкурентов и User Stories оформлены при финализации.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Результаты локального прогона подготовки: 92 unit-теста в 14 файлах, 113 SQL/RLS-проверок и 12 миграций. UI использует подмены Supabase и Google tag. Полный production и Docker не проверены в этой среде.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.github/workflows/ci.yml, scripts/deploy-vps.sh, docs/DEPLOYMENT.md. Workflow подготовлен, его выполнение в GitHub и production требуют аккаунтов и сервера.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docs/DEMO.md и docs/DEPLOYMENT.md. Скриншот телефона на демонстрационных данных. Публичной ссылки и подключённого GA4 в поставке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fd916eda440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f483c51264a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c0d5caa8342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6f627297f45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a5fa6dcf546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de74701c045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51973A-A9BF-4CFA-8D1C-9BBC3CAD1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B77F41-63FB-4D3E-842D-511D7EE004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F56E60-4EFB-47E8-9235-49F89B14D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7F869-092B-4F5F-BC81-465110C94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DCF843-8436-498C-B908-6E08845760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216F70-456B-4FBA-9C4B-38F626520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A3DE64-1778-4FD1-B6CE-13C43D209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7A70EA-EC0A-4470-BD92-1BFA12C325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03ADFE-4D66-4731-8D82-EAFADDF16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4C0FEB-FEED-4936-AE65-EF6750854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dc10cc1d14040" /><Relationship Type="http://schemas.openxmlformats.org/officeDocument/2006/relationships/slideLayout" Target="/ppt/slideLayouts/slideLayout1.xml" Id="R9f6450c5250b4edc" /><Relationship Type="http://schemas.openxmlformats.org/officeDocument/2006/relationships/slideLayout" Target="/ppt/slideLayouts/slideLayout2.xml" Id="Rf30edd8641f74b8c" /><Relationship Type="http://schemas.openxmlformats.org/officeDocument/2006/relationships/slideLayout" Target="/ppt/slideLayouts/slideLayout3.xml" Id="Rac6af0e2e03b43ef" /><Relationship Type="http://schemas.openxmlformats.org/officeDocument/2006/relationships/slideLayout" Target="/ppt/slideLayouts/slideLayout4.xml" Id="R68273b2ade7948b5" /><Relationship Type="http://schemas.openxmlformats.org/officeDocument/2006/relationships/slideLayout" Target="/ppt/slideLayouts/slideLayout5.xml" Id="R0da47bae799544f1" /><Relationship Type="http://schemas.openxmlformats.org/officeDocument/2006/relationships/slideLayout" Target="/ppt/slideLayouts/slideLayout6.xml" Id="R748b5d0f737540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6450c5250b4edc"/>
    <p:sldLayoutId xmlns:r="http://schemas.openxmlformats.org/officeDocument/2006/relationships" id="2147483650" r:id="Rf30edd8641f74b8c"/>
    <p:sldLayoutId xmlns:r="http://schemas.openxmlformats.org/officeDocument/2006/relationships" id="2147483651" r:id="Rac6af0e2e03b43ef"/>
    <p:sldLayoutId xmlns:r="http://schemas.openxmlformats.org/officeDocument/2006/relationships" id="2147483652" r:id="R68273b2ade7948b5"/>
    <p:sldLayoutId xmlns:r="http://schemas.openxmlformats.org/officeDocument/2006/relationships" id="2147483653" r:id="R0da47bae799544f1"/>
    <p:sldLayoutId xmlns:r="http://schemas.openxmlformats.org/officeDocument/2006/relationships" id="2147483654" r:id="R748b5d0f737540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47fff10b64338" /><Relationship Type="http://schemas.openxmlformats.org/officeDocument/2006/relationships/notesSlide" Target="/ppt/notesSlides/notesSlide1.xml" Id="Ra5afecf85ec3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f60af12d346b2" /><Relationship Type="http://schemas.openxmlformats.org/officeDocument/2006/relationships/notesSlide" Target="/ppt/notesSlides/notesSlide2.xml" Id="Rb31a81d9af5745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5d27daf914ec8" /><Relationship Type="http://schemas.openxmlformats.org/officeDocument/2006/relationships/notesSlide" Target="/ppt/notesSlides/notesSlide3.xml" Id="R087e8acb30c4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bf71bebd34c0d" /><Relationship Type="http://schemas.openxmlformats.org/officeDocument/2006/relationships/image" Target="/ppt/media/image.png" Id="R1515350a019b4b23" /><Relationship Type="http://schemas.openxmlformats.org/officeDocument/2006/relationships/notesSlide" Target="/ppt/notesSlides/notesSlide4.xml" Id="R60826dbc958f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f2a8a920d4510" /><Relationship Type="http://schemas.openxmlformats.org/officeDocument/2006/relationships/image" Target="/ppt/media/image2.png" Id="R7633487d535841f9" /><Relationship Type="http://schemas.openxmlformats.org/officeDocument/2006/relationships/notesSlide" Target="/ppt/notesSlides/notesSlide5.xml" Id="R0c03872b94504a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36c449773493e" /><Relationship Type="http://schemas.openxmlformats.org/officeDocument/2006/relationships/image" Target="/ppt/media/image3.png" Id="R1431b7c881da4bd6" /><Relationship Type="http://schemas.openxmlformats.org/officeDocument/2006/relationships/notesSlide" Target="/ppt/notesSlides/notesSlide6.xml" Id="R81226a0b80e94b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21e36b54f479a" /><Relationship Type="http://schemas.openxmlformats.org/officeDocument/2006/relationships/notesSlide" Target="/ppt/notesSlides/notesSlide7.xml" Id="R59412793169843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79a5362b24658" /><Relationship Type="http://schemas.openxmlformats.org/officeDocument/2006/relationships/notesSlide" Target="/ppt/notesSlides/notesSlide8.xml" Id="R3b096bf2a00e4e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9a8f3f3634814" /><Relationship Type="http://schemas.openxmlformats.org/officeDocument/2006/relationships/image" Target="/ppt/media/image4.png" Id="R4c5c1e19c3df4f3c" /><Relationship Type="http://schemas.openxmlformats.org/officeDocument/2006/relationships/notesSlide" Target="/ppt/notesSlides/notesSlide9.xml" Id="Rb31ef68862814f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28e6dc6fc4178" /><Relationship Type="http://schemas.openxmlformats.org/officeDocument/2006/relationships/notesSlide" Target="/ppt/notesSlides/notesSlide10.xml" Id="R96ad210ce3c348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da3614d3f4bc0" /><Relationship Type="http://schemas.openxmlformats.org/officeDocument/2006/relationships/notesSlide" Target="/ppt/notesSlides/notesSlide11.xml" Id="R10b7d534f7c245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9325cf1e5455e" /><Relationship Type="http://schemas.openxmlformats.org/officeDocument/2006/relationships/notesSlide" Target="/ppt/notesSlides/notesSlide12.xml" Id="R1fb54fd9aed34d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e38aca83e468a" /><Relationship Type="http://schemas.openxmlformats.org/officeDocument/2006/relationships/image" Target="/ppt/media/image5.png" Id="R7353d3d52f9a4e86" /><Relationship Type="http://schemas.openxmlformats.org/officeDocument/2006/relationships/notesSlide" Target="/ppt/notesSlides/notesSlide13.xml" Id="R340090e8a7d647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950C7640-C2D9-40EB-A998-4016D09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ПРОЕКТНАЯ РАБОТА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944BAB-EDBB-42BA-B28F-D27D4DD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8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78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F9DA7E9-DB7D-406A-B16D-1A0E0820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Задачи и обсуждения команды</a:t>
            </a:r>
          </a:p>
          <a:p xmlns:a="http://schemas.openxmlformats.org/drawingml/2006/main">
            <a:pPr>
              <a:defRPr sz="28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с AI-помощником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35D12A3-C7C7-4E72-A16D-1B3F5F4D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Next.js  /  Supabase  /  Google Analytics 4</a:t>
            </a:r>
          </a:p>
        </p:txBody>
      </p:sp>
    </p:spTree>
    <p:extLst>
      <p:ext uri="{BB962C8B-B14F-4D97-AF65-F5344CB8AC3E}">
        <p14:creationId xmlns:p14="http://schemas.microsoft.com/office/powerpoint/2010/main" val="928796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341D90B-A5C4-4F6D-BBD7-19FDB10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ИДЕЯ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65C262-C4B5-47FA-BD58-D631E4C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Рабочее пространство команды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B52629D-D827-449E-ABB1-3CCC38D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D9833074-FCF9-4F32-8CC7-6EB04BC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D1E29194-DF86-4E60-8D4B-4E4BABBA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Для небольшой команды</a:t>
            </a:r>
          </a:p>
        </p:txBody>
      </p:sp>
      <p:sp>
        <p:nvSpPr>
          <p:cNvPr id="6" name="problem">
            <a:extLst xmlns:a="http://schemas.openxmlformats.org/drawingml/2006/main">
              <a:ext uri="{FF2B5EF4-FFF2-40B4-BE49-F238E27FC236}">
                <a16:creationId xmlns:a16="http://schemas.microsoft.com/office/drawing/2014/main" id="{26E0E4A9-4CA2-4D92-B098-555F9FDE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Договорённости теряются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в переписке. Сроки и файлы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приходится искать отдельно.</a:t>
            </a:r>
          </a:p>
        </p:txBody>
      </p:sp>
      <p:sp>
        <p:nvSpPr>
          <p:cNvPr id="7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C075DEE8-33E1-4472-BA2C-CF9DAC09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В одном отделе</a:t>
            </a:r>
          </a:p>
        </p:txBody>
      </p:sp>
      <p:sp>
        <p:nvSpPr>
          <p:cNvPr id="8" name="solution">
            <a:extLst xmlns:a="http://schemas.openxmlformats.org/drawingml/2006/main">
              <a:ext uri="{FF2B5EF4-FFF2-40B4-BE49-F238E27FC236}">
                <a16:creationId xmlns:a16="http://schemas.microsoft.com/office/drawing/2014/main" id="{E945408C-3855-4A44-8271-F9EFF2E7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Канбан и календарь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Обсуждения с файлами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Связь сообщения с задачей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AI-сводки и черновики</a:t>
            </a:r>
          </a:p>
        </p:txBody>
      </p:sp>
    </p:spTree>
    <p:extLst>
      <p:ext uri="{BB962C8B-B14F-4D97-AF65-F5344CB8AC3E}">
        <p14:creationId xmlns:p14="http://schemas.microsoft.com/office/powerpoint/2010/main" val="172109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81B34D0-AB4D-4F0A-B2AE-2D4E552D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АРХИТЕКТУРА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96B5E9-825B-4B92-9029-8E2ADAB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Технологии и инфраструктура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722DA6B-7C72-4880-9A96-2E842365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97E13367-2D82-4167-80BA-BBA6BF88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02AABF99-D1AE-4D59-ADF9-E58835A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Интерфейс: Next.js, React, TypeScript, Tailwind CSS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9744655C-3AF7-4AC2-9F4A-A603D3E1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Данные: PostgreSQL, Supabase Auth, Storage и Realtime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D7481EF-A8D9-4D3F-B727-3B6118A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AI: серверные интеграции Gemini, Groq и Ollama</a:t>
            </a:r>
          </a:p>
        </p:txBody>
      </p:sp>
      <p:sp>
        <p:nvSpPr>
          <p:cNvPr id="8" name="body-3">
            <a:extLst xmlns:a="http://schemas.openxmlformats.org/drawingml/2006/main">
              <a:ext uri="{FF2B5EF4-FFF2-40B4-BE49-F238E27FC236}">
                <a16:creationId xmlns:a16="http://schemas.microsoft.com/office/drawing/2014/main" id="{60F37F6C-0C9F-494F-9727-BB60F6F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Запуск: Docker web и отдельный scheduler</a:t>
            </a:r>
          </a:p>
        </p:txBody>
      </p:sp>
    </p:spTree>
    <p:extLst>
      <p:ext uri="{BB962C8B-B14F-4D97-AF65-F5344CB8AC3E}">
        <p14:creationId xmlns:p14="http://schemas.microsoft.com/office/powerpoint/2010/main" val="1654164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29F38AE-A066-4C41-B7F0-CBC8F7B7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20867B-658F-4689-AEFB-62EFB117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Канбан и карточки задач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B0A03FD-7ED8-4F53-BB72-5BF4BEA1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246FAF66-43F2-4AC9-88D5-F1E234B7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49106-1C8B-4247-9C86-4C64F21143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5350a019b4b23"/>
          <a:stretch xmlns:a="http://schemas.openxmlformats.org/drawingml/2006/main"/>
        </p:blipFill>
        <p:spPr>
          <a:xfrm xmlns:a="http://schemas.openxmlformats.org/drawingml/2006/main">
            <a:off x="2975610" y="166687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186BB4C-C610-40A7-AB9E-E10265CF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Приоритеты, исполнители, сроки, чек-листы и архив</a:t>
            </a:r>
          </a:p>
        </p:txBody>
      </p:sp>
    </p:spTree>
    <p:extLst>
      <p:ext uri="{BB962C8B-B14F-4D97-AF65-F5344CB8AC3E}">
        <p14:creationId xmlns:p14="http://schemas.microsoft.com/office/powerpoint/2010/main" val="360960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0930952-E1D7-41EC-9FFE-F246DEDD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D7B835-0398-41E4-8740-5763056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Обсуждения связаны с работой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DCF2C796-FB1D-4EFD-A252-B5D24FD4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2E1392E7-FB1A-416F-8EF6-541CA2F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3E5CC-184C-494D-A825-1994BC6BB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3487d535841f9"/>
          <a:stretch xmlns:a="http://schemas.openxmlformats.org/drawingml/2006/main"/>
        </p:blipFill>
        <p:spPr>
          <a:xfrm xmlns:a="http://schemas.openxmlformats.org/drawingml/2006/main">
            <a:off x="2975610" y="166687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3BFE769-6C2D-4C3A-8308-9DBBD028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Ответы, упоминания, вложения и создание задачи из сообщения</a:t>
            </a:r>
          </a:p>
        </p:txBody>
      </p:sp>
    </p:spTree>
    <p:extLst>
      <p:ext uri="{BB962C8B-B14F-4D97-AF65-F5344CB8AC3E}">
        <p14:creationId xmlns:p14="http://schemas.microsoft.com/office/powerpoint/2010/main" val="1922808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5AAAB71-69E1-4DA5-AC3B-753B7E6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ПРИЛОЖЕНИЕ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7011ED-326E-4C20-B6E6-6D8A0C45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Календарь сроков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37B9798-BDC4-42F6-8C8E-A853FCC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4E697B28-F9AF-450E-BF14-8AC6A3B7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3A026-7345-4480-85A1-7FD8416AE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1b7c881da4bd6"/>
          <a:stretch xmlns:a="http://schemas.openxmlformats.org/drawingml/2006/main"/>
        </p:blipFill>
        <p:spPr>
          <a:xfrm xmlns:a="http://schemas.openxmlformats.org/drawingml/2006/main">
            <a:off x="2975610" y="1666875"/>
            <a:ext cx="6240780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6B8DC018-EC8C-49EA-A798-5A94625D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Только нужные недели, фильтры и список задач выбранного дня</a:t>
            </a:r>
          </a:p>
        </p:txBody>
      </p:sp>
    </p:spTree>
    <p:extLst>
      <p:ext uri="{BB962C8B-B14F-4D97-AF65-F5344CB8AC3E}">
        <p14:creationId xmlns:p14="http://schemas.microsoft.com/office/powerpoint/2010/main" val="806915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7986C8C6-F8BC-4C15-92C1-3EADDE68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ФУНКЦИОНАЛЬНОСТЬ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BC8A57-0D27-4F49-B884-BF36024A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AI-помощник в приложении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ECB27BE2-BBE5-49CA-AAB9-09E8634F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3DDDB0CC-5F75-4FE1-9301-C4B827B6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command-0">
            <a:extLst xmlns:a="http://schemas.openxmlformats.org/drawingml/2006/main">
              <a:ext uri="{FF2B5EF4-FFF2-40B4-BE49-F238E27FC236}">
                <a16:creationId xmlns:a16="http://schemas.microsoft.com/office/drawing/2014/main" id="{EFAF7D6E-0009-4EB6-919A-4C7B243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/task</a:t>
            </a:r>
          </a:p>
        </p:txBody>
      </p:sp>
      <p:sp>
        <p:nvSpPr>
          <p:cNvPr id="6" name="explain-0">
            <a:extLst xmlns:a="http://schemas.openxmlformats.org/drawingml/2006/main">
              <a:ext uri="{FF2B5EF4-FFF2-40B4-BE49-F238E27FC236}">
                <a16:creationId xmlns:a16="http://schemas.microsoft.com/office/drawing/2014/main" id="{7FD2E868-1A7F-409C-B85F-BC72E4F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Черновики карточек из обсуждения</a:t>
            </a:r>
          </a:p>
        </p:txBody>
      </p:sp>
      <p:sp>
        <p:nvSpPr>
          <p:cNvPr id="7" name="command-1">
            <a:extLst xmlns:a="http://schemas.openxmlformats.org/drawingml/2006/main">
              <a:ext uri="{FF2B5EF4-FFF2-40B4-BE49-F238E27FC236}">
                <a16:creationId xmlns:a16="http://schemas.microsoft.com/office/drawing/2014/main" id="{13E17FB4-C711-4AC4-8D47-E178B65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/summary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BFC5A2FF-F626-4B89-8629-1D8DC0A7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051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Резюме переписки</a:t>
            </a:r>
          </a:p>
        </p:txBody>
      </p:sp>
      <p:sp>
        <p:nvSpPr>
          <p:cNvPr id="9" name="command-2">
            <a:extLst xmlns:a="http://schemas.openxmlformats.org/drawingml/2006/main">
              <a:ext uri="{FF2B5EF4-FFF2-40B4-BE49-F238E27FC236}">
                <a16:creationId xmlns:a16="http://schemas.microsoft.com/office/drawing/2014/main" id="{59E51608-105A-44B1-B35F-08A73FC4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/ask</a:t>
            </a:r>
          </a:p>
        </p:txBody>
      </p:sp>
      <p:sp>
        <p:nvSpPr>
          <p:cNvPr id="10" name="explain-2">
            <a:extLst xmlns:a="http://schemas.openxmlformats.org/drawingml/2006/main">
              <a:ext uri="{FF2B5EF4-FFF2-40B4-BE49-F238E27FC236}">
                <a16:creationId xmlns:a16="http://schemas.microsoft.com/office/drawing/2014/main" id="{DD8F1DA5-195F-4FED-B376-C6A20C7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Ответы по доске и чату</a:t>
            </a:r>
          </a:p>
        </p:txBody>
      </p:sp>
      <p:sp>
        <p:nvSpPr>
          <p:cNvPr id="11" name="command-3">
            <a:extLst xmlns:a="http://schemas.openxmlformats.org/drawingml/2006/main">
              <a:ext uri="{FF2B5EF4-FFF2-40B4-BE49-F238E27FC236}">
                <a16:creationId xmlns:a16="http://schemas.microsoft.com/office/drawing/2014/main" id="{A4938A7B-7BD7-4583-8C37-8DAC4D3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/meeting</a:t>
            </a:r>
          </a:p>
        </p:txBody>
      </p:sp>
      <p:sp>
        <p:nvSpPr>
          <p:cNvPr id="12" name="explain-3">
            <a:extLst xmlns:a="http://schemas.openxmlformats.org/drawingml/2006/main">
              <a:ext uri="{FF2B5EF4-FFF2-40B4-BE49-F238E27FC236}">
                <a16:creationId xmlns:a16="http://schemas.microsoft.com/office/drawing/2014/main" id="{48DDC9BC-A26F-4ADC-B030-622B8E0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Решения и задачи из заметок встречи</a:t>
            </a:r>
          </a:p>
        </p:txBody>
      </p:sp>
      <p:sp>
        <p:nvSpPr>
          <p:cNvPr id="13" name="human">
            <a:extLst xmlns:a="http://schemas.openxmlformats.org/drawingml/2006/main">
              <a:ext uri="{FF2B5EF4-FFF2-40B4-BE49-F238E27FC236}">
                <a16:creationId xmlns:a16="http://schemas.microsoft.com/office/drawing/2014/main" id="{EE8D010B-02D5-4E23-BA7A-E9C533D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Пользователь подтверждает создание предложенных задач</a:t>
            </a:r>
          </a:p>
        </p:txBody>
      </p:sp>
    </p:spTree>
    <p:extLst>
      <p:ext uri="{BB962C8B-B14F-4D97-AF65-F5344CB8AC3E}">
        <p14:creationId xmlns:p14="http://schemas.microsoft.com/office/powerpoint/2010/main" val="203263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8094F34-62B0-4412-900A-50A3DAE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БЕЗОПАСНОСТЬ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389591-D188-4AFF-BC0D-9033D98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Защита данных и роли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11930A5-0FA1-4490-B193-DCDC2AE6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815C532A-2BA5-43EA-B824-04D93B97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8BBE1DFD-C279-4B6B-A01B-A47F7ABD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RLS проверяет доступ к данным каждого отдела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415F238-39E6-4809-AC31-CACDDE91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Привилегированные операции проходят серверную проверку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3FB934C-4254-43E2-B25A-E2109A0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Storage хранит вложения в приватных buckets</a:t>
            </a:r>
          </a:p>
        </p:txBody>
      </p:sp>
      <p:sp>
        <p:nvSpPr>
          <p:cNvPr id="8" name="body-3">
            <a:extLst xmlns:a="http://schemas.openxmlformats.org/drawingml/2006/main">
              <a:ext uri="{FF2B5EF4-FFF2-40B4-BE49-F238E27FC236}">
                <a16:creationId xmlns:a16="http://schemas.microsoft.com/office/drawing/2014/main" id="{9ECC7FB6-325A-4005-A0EC-E0CEF5EF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AI-контекст проходит эвристическое маскирование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2825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3C3077B-7AA8-4E40-9400-7EEC643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АНАЛИТИКА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EF9B6A-F424-4687-BB13-4B08A05F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Google Analytics 4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3522CAF1-1668-412A-939E-852004F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E72A593C-4649-4EBE-979B-210F08D8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events-title">
            <a:extLst xmlns:a="http://schemas.openxmlformats.org/drawingml/2006/main">
              <a:ext uri="{FF2B5EF4-FFF2-40B4-BE49-F238E27FC236}">
                <a16:creationId xmlns:a16="http://schemas.microsoft.com/office/drawing/2014/main" id="{4DB17170-48AE-4FFA-857D-C3157B11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Разделы и успешные действия</a:t>
            </a:r>
          </a:p>
        </p:txBody>
      </p:sp>
      <p:sp>
        <p:nvSpPr>
          <p:cNvPr id="6" name="events">
            <a:extLst xmlns:a="http://schemas.openxmlformats.org/drawingml/2006/main">
              <a:ext uri="{FF2B5EF4-FFF2-40B4-BE49-F238E27FC236}">
                <a16:creationId xmlns:a16="http://schemas.microsoft.com/office/drawing/2014/main" id="{A15703F6-3E0F-4657-9B66-44D28C2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Создание и перемещение задач</a:t>
            </a:r>
          </a:p>
          <a:p xmlns:a="http://schemas.openxmlformats.org/drawingml/2006/main">
            <a:pPr>
              <a:def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Отправка сообщений и файлов</a:t>
            </a:r>
          </a:p>
          <a:p xmlns:a="http://schemas.openxmlformats.org/drawingml/2006/main">
            <a:pPr>
              <a:def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Поиск и получение ответа AI</a:t>
            </a:r>
          </a:p>
        </p:txBody>
      </p:sp>
      <p:sp>
        <p:nvSpPr>
          <p:cNvPr id="7" name="privacy">
            <a:extLst xmlns:a="http://schemas.openxmlformats.org/drawingml/2006/main">
              <a:ext uri="{FF2B5EF4-FFF2-40B4-BE49-F238E27FC236}">
                <a16:creationId xmlns:a16="http://schemas.microsoft.com/office/drawing/2014/main" id="{9C274EC8-C6AF-4722-95D8-25F22BFB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Tag загружается после согласия.</a:t>
            </a:r>
          </a:p>
          <a:p xmlns:a="http://schemas.openxmlformats.org/drawingml/2006/main">
            <a: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Тексты и ID объектов не передаются.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2510D-D6EE-441F-BBAB-E94676750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c1e19c3df4f3c"/>
          <a:stretch xmlns:a="http://schemas.openxmlformats.org/drawingml/2006/main"/>
        </p:blipFill>
        <p:spPr>
          <a:xfrm xmlns:a="http://schemas.openxmlformats.org/drawingml/2006/main">
            <a:off x="6477000" y="2192238"/>
            <a:ext cx="5143500" cy="36165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76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">
            <a:extLst xmlns:a="http://schemas.openxmlformats.org/drawingml/2006/main">
              <a:ext uri="{FF2B5EF4-FFF2-40B4-BE49-F238E27FC236}">
                <a16:creationId xmlns:a16="http://schemas.microsoft.com/office/drawing/2014/main" id="{2DEC38EF-DEF0-44B2-B1F5-770A5CF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ПРОЦЕСС С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A0395-EFF1-40FB-8E9F-7CFD1D44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Разработка с Codex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50539E6B-58F3-4EAE-AE36-ED08FA03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10C2182D-7C16-4941-918B-F2DE4B12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prompt-label">
            <a:extLst xmlns:a="http://schemas.openxmlformats.org/drawingml/2006/main">
              <a:ext uri="{FF2B5EF4-FFF2-40B4-BE49-F238E27FC236}">
                <a16:creationId xmlns:a16="http://schemas.microsoft.com/office/drawing/2014/main" id="{8AC3F39B-D760-45B9-B847-174B3D4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Пример запроса пользователя</a:t>
            </a:r>
          </a:p>
        </p:txBody>
      </p:sp>
      <p:sp>
        <p:nvSpPr>
          <p:cNvPr id="6" name="prompt">
            <a:extLst xmlns:a="http://schemas.openxmlformats.org/drawingml/2006/main">
              <a:ext uri="{FF2B5EF4-FFF2-40B4-BE49-F238E27FC236}">
                <a16:creationId xmlns:a16="http://schemas.microsoft.com/office/drawing/2014/main" id="{668F95ED-B305-494C-A536-E4C1BAF7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«поправь отображение месяца</a:t>
            </a:r>
          </a:p>
          <a:p xmlns:a="http://schemas.openxmlformats.org/drawingml/2006/main">
            <a:pPr>
              <a:defRPr sz="255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и видоизмени интерфейс на более приятный»</a:t>
            </a:r>
          </a:p>
        </p:txBody>
      </p:sp>
      <p:sp>
        <p:nvSpPr>
          <p:cNvPr id="7" name="result">
            <a:extLst xmlns:a="http://schemas.openxmlformats.org/drawingml/2006/main">
              <a:ext uri="{FF2B5EF4-FFF2-40B4-BE49-F238E27FC236}">
                <a16:creationId xmlns:a16="http://schemas.microsoft.com/office/drawing/2014/main" id="{0CF094C9-FB51-43FD-81E8-779DD949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Результат: расчёт недель, навигация месяца, новые темы.</a:t>
            </a:r>
          </a:p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Проверка: граничные даты, UI и мобильные экраны.</a:t>
            </a:r>
          </a:p>
        </p:txBody>
      </p:sp>
    </p:spTree>
    <p:extLst>
      <p:ext uri="{BB962C8B-B14F-4D97-AF65-F5344CB8AC3E}">
        <p14:creationId xmlns:p14="http://schemas.microsoft.com/office/powerpoint/2010/main" val="928149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E28C5F22-DE2A-432B-A915-E55A0646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КАЧЕСТВО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6CCA98-7687-4985-A271-AC5C4B8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Проверка реализации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3CDCCB05-AA8E-4688-BF8E-271A2C4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33114566-201C-4EA2-81D9-501F175D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unit-number">
            <a:extLst xmlns:a="http://schemas.openxmlformats.org/drawingml/2006/main">
              <a:ext uri="{FF2B5EF4-FFF2-40B4-BE49-F238E27FC236}">
                <a16:creationId xmlns:a16="http://schemas.microsoft.com/office/drawing/2014/main" id="{24BDAC68-5B13-487D-8208-BCA8B0A9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92</a:t>
            </a:r>
          </a:p>
        </p:txBody>
      </p:sp>
      <p:sp>
        <p:nvSpPr>
          <p:cNvPr id="6" name="unit-label">
            <a:extLst xmlns:a="http://schemas.openxmlformats.org/drawingml/2006/main">
              <a:ext uri="{FF2B5EF4-FFF2-40B4-BE49-F238E27FC236}">
                <a16:creationId xmlns:a16="http://schemas.microsoft.com/office/drawing/2014/main" id="{70582C8F-DC80-44DC-9D7D-0D3369F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unit-теста</a:t>
            </a:r>
          </a:p>
        </p:txBody>
      </p:sp>
      <p:sp>
        <p:nvSpPr>
          <p:cNvPr id="7" name="db-number">
            <a:extLst xmlns:a="http://schemas.openxmlformats.org/drawingml/2006/main">
              <a:ext uri="{FF2B5EF4-FFF2-40B4-BE49-F238E27FC236}">
                <a16:creationId xmlns:a16="http://schemas.microsoft.com/office/drawing/2014/main" id="{393C8B0B-304F-434E-99EF-10495D81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675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113</a:t>
            </a:r>
          </a:p>
        </p:txBody>
      </p:sp>
      <p:sp>
        <p:nvSpPr>
          <p:cNvPr id="8" name="db-label">
            <a:extLst xmlns:a="http://schemas.openxmlformats.org/drawingml/2006/main">
              <a:ext uri="{FF2B5EF4-FFF2-40B4-BE49-F238E27FC236}">
                <a16:creationId xmlns:a16="http://schemas.microsoft.com/office/drawing/2014/main" id="{FAB04CEC-F591-4D7B-965F-05B93A7F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SQL/RLS-проверок</a:t>
            </a:r>
          </a:p>
        </p:txBody>
      </p:sp>
      <p:sp>
        <p:nvSpPr>
          <p:cNvPr id="9" name="checks">
            <a:extLst xmlns:a="http://schemas.openxmlformats.org/drawingml/2006/main">
              <a:ext uri="{FF2B5EF4-FFF2-40B4-BE49-F238E27FC236}">
                <a16:creationId xmlns:a16="http://schemas.microsoft.com/office/drawing/2014/main" id="{7EB89574-9FC7-4C64-87BB-BADE3F13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TypeScript и production-сборка</a:t>
            </a:r>
          </a:p>
          <a:p xmlns:a="http://schemas.openxmlformats.org/drawingml/2006/main">
            <a:pPr>
              <a:defRPr sz="21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Chromium: календарь, согласие GA4 и мобильный экран</a:t>
            </a:r>
          </a:p>
        </p:txBody>
      </p:sp>
    </p:spTree>
    <p:extLst>
      <p:ext uri="{BB962C8B-B14F-4D97-AF65-F5344CB8AC3E}">
        <p14:creationId xmlns:p14="http://schemas.microsoft.com/office/powerpoint/2010/main" val="823090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3A91F6FF-6622-4F10-AB82-579E486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CI/CD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B60616-ADA8-4FA7-B5F7-7DCD66E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Доставка после успешных проверок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F98B3788-F5FE-41C3-9A5E-955A0B4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7D9764E2-25DB-4AC6-B9D2-8503AC04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body-0">
            <a:extLst xmlns:a="http://schemas.openxmlformats.org/drawingml/2006/main">
              <a:ext uri="{FF2B5EF4-FFF2-40B4-BE49-F238E27FC236}">
                <a16:creationId xmlns:a16="http://schemas.microsoft.com/office/drawing/2014/main" id="{FB74B7A9-5264-4165-8872-92C480F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01   Push / PR: типы, unit-тесты, SQL-тесты и сборка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175161E2-8BBC-4292-89AF-52FD5D8A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02   Только main: запуск deploy после успешного check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BCA28839-F1B5-43DE-B0D1-08DE185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03   VPS: доставка commit, Docker web и scheduler</a:t>
            </a:r>
          </a:p>
        </p:txBody>
      </p:sp>
      <p:sp>
        <p:nvSpPr>
          <p:cNvPr id="8" name="body-3">
            <a:extLst xmlns:a="http://schemas.openxmlformats.org/drawingml/2006/main">
              <a:ext uri="{FF2B5EF4-FFF2-40B4-BE49-F238E27FC236}">
                <a16:creationId xmlns:a16="http://schemas.microsoft.com/office/drawing/2014/main" id="{79919ED7-739B-48ED-8094-63398CC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04   Healthcheck и попытка отката неудачного запуска</a:t>
            </a:r>
          </a:p>
        </p:txBody>
      </p:sp>
      <p:sp>
        <p:nvSpPr>
          <p:cNvPr id="9" name="state">
            <a:extLst xmlns:a="http://schemas.openxmlformats.org/drawingml/2006/main">
              <a:ext uri="{FF2B5EF4-FFF2-40B4-BE49-F238E27FC236}">
                <a16:creationId xmlns:a16="http://schemas.microsoft.com/office/drawing/2014/main" id="{E7DDD96E-2673-48B1-BBBF-C30DB90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Конфигурация готова. Репозиторий и VPS ещё не подключены.</a:t>
            </a:r>
          </a:p>
        </p:txBody>
      </p:sp>
    </p:spTree>
    <p:extLst>
      <p:ext uri="{BB962C8B-B14F-4D97-AF65-F5344CB8AC3E}">
        <p14:creationId xmlns:p14="http://schemas.microsoft.com/office/powerpoint/2010/main" val="11107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2F3FD72-EDB8-4A1B-A80E-8AE1470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ЗАЩИТА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AD0E02-FFE2-4C40-B31C-6E34C28B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Демонстрация и готовность к публикации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319F1E6-A155-4096-861D-073D21F5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FlowDesk</a:t>
            </a:r>
          </a:p>
        </p:txBody>
      </p:sp>
      <p:sp>
        <p:nvSpPr>
          <p:cNvPr id="4" name="number">
            <a:extLst xmlns:a="http://schemas.openxmlformats.org/drawingml/2006/main">
              <a:ext uri="{FF2B5EF4-FFF2-40B4-BE49-F238E27FC236}">
                <a16:creationId xmlns:a16="http://schemas.microsoft.com/office/drawing/2014/main" id="{CD4AAD40-6A10-43A6-BE8D-837427C6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3EBB2327-7DB6-43C8-B044-9BBEF73A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DB079"/>
                </a:solidFill>
                <a:latin typeface="DejaVu Sans"/>
                <a:ea typeface="DejaVu Sans"/>
                <a:cs typeface="DejaVu Sans"/>
              </a:rPr>
              <a:t>Сценарий на 7–9 минут</a:t>
            </a:r>
          </a:p>
        </p:txBody>
      </p:sp>
      <p:sp>
        <p:nvSpPr>
          <p:cNvPr id="6" name="flow">
            <a:extLst xmlns:a="http://schemas.openxmlformats.org/drawingml/2006/main">
              <a:ext uri="{FF2B5EF4-FFF2-40B4-BE49-F238E27FC236}">
                <a16:creationId xmlns:a16="http://schemas.microsoft.com/office/drawing/2014/main" id="{A0C4D0DC-EE2C-495A-A83D-D6010A73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Задача, обсуждение, AI-черновик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Календарь, роли, аналитика</a:t>
            </a:r>
          </a:p>
          <a:p xmlns:a="http://schemas.openxmlformats.org/drawingml/2006/main">
            <a:pPr>
              <a:def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5EBF5"/>
                </a:solidFill>
                <a:latin typeface="DejaVu Sans"/>
                <a:ea typeface="DejaVu Sans"/>
                <a:cs typeface="DejaVu Sans"/>
              </a:rPr>
              <a:t>Проверки и CI/CD</a:t>
            </a:r>
          </a:p>
        </p:txBody>
      </p:sp>
      <p:sp>
        <p:nvSpPr>
          <p:cNvPr id="7" name="remaining">
            <a:extLst xmlns:a="http://schemas.openxmlformats.org/drawingml/2006/main">
              <a:ext uri="{FF2B5EF4-FFF2-40B4-BE49-F238E27FC236}">
                <a16:creationId xmlns:a16="http://schemas.microsoft.com/office/drawing/2014/main" id="{6CAD3C9A-E9EC-4446-B917-A9990F6B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Для публикации нужны GitHub, VPS, домен</a:t>
            </a:r>
          </a:p>
          <a:p xmlns:a="http://schemas.openxmlformats.org/drawingml/2006/main">
            <a:pPr>
              <a:def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4B2C6"/>
                </a:solidFill>
                <a:latin typeface="DejaVu Sans"/>
                <a:ea typeface="DejaVu Sans"/>
                <a:cs typeface="DejaVu Sans"/>
              </a:rPr>
              <a:t>и Measurement ID действительного потока GA4.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253C1-2267-4DE6-803C-9A7279D00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d3d52f9a4e86"/>
          <a:stretch xmlns:a="http://schemas.openxmlformats.org/drawingml/2006/main"/>
        </p:blipFill>
        <p:spPr>
          <a:xfrm xmlns:a="http://schemas.openxmlformats.org/drawingml/2006/main">
            <a:off x="9058568" y="1762125"/>
            <a:ext cx="1980613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11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2026-10-15T14:48:59.0120000Z</dcterms:created>
  <dcterms:modified xsi:type="dcterms:W3CDTF">2026-10-15T14:48:59.0120000Z</dcterms:modified>
</coreProperties>
</file>
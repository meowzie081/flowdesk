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81bd4a6900f4e5a" /><Relationship Type="http://schemas.openxmlformats.org/officeDocument/2006/relationships/extended-properties" Target="/docProps/app.xml" Id="R13ee985cb16c40a1" /><Relationship Type="http://schemas.openxmlformats.org/officeDocument/2006/relationships/officeDocument" Target="/ppt/presentation.xml" Id="Ref9975abb5b04d7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fde3f6ecdb4502"/>
  </p:sldMasterIdLst>
  <p:notesMasterIdLst>
    <p:notesMasterId xmlns:r="http://schemas.openxmlformats.org/officeDocument/2006/relationships" r:id="R22bda7715f874bb1"/>
  </p:notesMasterIdLst>
  <p:sldIdLst>
    <p:sldId xmlns:r="http://schemas.openxmlformats.org/officeDocument/2006/relationships" id="256" r:id="R401a0bd328684e72"/>
    <p:sldId xmlns:r="http://schemas.openxmlformats.org/officeDocument/2006/relationships" id="257" r:id="Rccd025e23914477f"/>
    <p:sldId xmlns:r="http://schemas.openxmlformats.org/officeDocument/2006/relationships" id="258" r:id="R3220d97a54a841d5"/>
    <p:sldId xmlns:r="http://schemas.openxmlformats.org/officeDocument/2006/relationships" id="259" r:id="R887da8bb8a6f4b5d"/>
    <p:sldId xmlns:r="http://schemas.openxmlformats.org/officeDocument/2006/relationships" id="260" r:id="R03e0883f37cc4d04"/>
    <p:sldId xmlns:r="http://schemas.openxmlformats.org/officeDocument/2006/relationships" id="261" r:id="Rc3f8f807f1f74309"/>
    <p:sldId xmlns:r="http://schemas.openxmlformats.org/officeDocument/2006/relationships" id="262" r:id="R9dced472a47b4274"/>
    <p:sldId xmlns:r="http://schemas.openxmlformats.org/officeDocument/2006/relationships" id="263" r:id="R0ba7b79589bf4722"/>
    <p:sldId xmlns:r="http://schemas.openxmlformats.org/officeDocument/2006/relationships" id="264" r:id="R7ab52507b20c4979"/>
    <p:sldId xmlns:r="http://schemas.openxmlformats.org/officeDocument/2006/relationships" id="265" r:id="R61bb73c8f38e45d2"/>
    <p:sldId xmlns:r="http://schemas.openxmlformats.org/officeDocument/2006/relationships" id="266" r:id="R8cba8fc911ef4cd9"/>
    <p:sldId xmlns:r="http://schemas.openxmlformats.org/officeDocument/2006/relationships" id="267" r:id="R26893bd5d2ad476e"/>
    <p:sldId xmlns:r="http://schemas.openxmlformats.org/officeDocument/2006/relationships" id="268" r:id="Rfb521702fbf349f0"/>
    <p:sldId xmlns:r="http://schemas.openxmlformats.org/officeDocument/2006/relationships" id="269" r:id="R5a1e0235bac644a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35df891b5b845fe" /><Relationship Type="http://schemas.openxmlformats.org/officeDocument/2006/relationships/slideMaster" Target="/ppt/slideMasters/slideMaster1.xml" Id="Rf2fde3f6ecdb4502" /><Relationship Type="http://schemas.openxmlformats.org/officeDocument/2006/relationships/notesMaster" Target="/ppt/notesMasters/notesMaster1.xml" Id="R22bda7715f874bb1" /><Relationship Type="http://schemas.openxmlformats.org/officeDocument/2006/relationships/presProps" Target="/ppt/presProps.xml" Id="Ra1b054c269ad4fc7" /><Relationship Type="http://schemas.openxmlformats.org/officeDocument/2006/relationships/tableStyles" Target="/ppt/tableStyles.xml" Id="R52c595fb895d422e" /><Relationship Type="http://schemas.openxmlformats.org/officeDocument/2006/relationships/slide" Target="/ppt/slides/slide1.xml" Id="R401a0bd328684e72" /><Relationship Type="http://schemas.openxmlformats.org/officeDocument/2006/relationships/slide" Target="/ppt/slides/slide2.xml" Id="Rccd025e23914477f" /><Relationship Type="http://schemas.openxmlformats.org/officeDocument/2006/relationships/slide" Target="/ppt/slides/slide3.xml" Id="R3220d97a54a841d5" /><Relationship Type="http://schemas.openxmlformats.org/officeDocument/2006/relationships/slide" Target="/ppt/slides/slide4.xml" Id="R887da8bb8a6f4b5d" /><Relationship Type="http://schemas.openxmlformats.org/officeDocument/2006/relationships/slide" Target="/ppt/slides/slide5.xml" Id="R03e0883f37cc4d04" /><Relationship Type="http://schemas.openxmlformats.org/officeDocument/2006/relationships/slide" Target="/ppt/slides/slide6.xml" Id="Rc3f8f807f1f74309" /><Relationship Type="http://schemas.openxmlformats.org/officeDocument/2006/relationships/slide" Target="/ppt/slides/slide7.xml" Id="R9dced472a47b4274" /><Relationship Type="http://schemas.openxmlformats.org/officeDocument/2006/relationships/slide" Target="/ppt/slides/slide8.xml" Id="R0ba7b79589bf4722" /><Relationship Type="http://schemas.openxmlformats.org/officeDocument/2006/relationships/slide" Target="/ppt/slides/slide9.xml" Id="R7ab52507b20c4979" /><Relationship Type="http://schemas.openxmlformats.org/officeDocument/2006/relationships/slide" Target="/ppt/slides/slide10.xml" Id="R61bb73c8f38e45d2" /><Relationship Type="http://schemas.openxmlformats.org/officeDocument/2006/relationships/slide" Target="/ppt/slides/slide11.xml" Id="R8cba8fc911ef4cd9" /><Relationship Type="http://schemas.openxmlformats.org/officeDocument/2006/relationships/slide" Target="/ppt/slides/slide12.xml" Id="R26893bd5d2ad476e" /><Relationship Type="http://schemas.openxmlformats.org/officeDocument/2006/relationships/slide" Target="/ppt/slides/slide13.xml" Id="Rfb521702fbf349f0" /><Relationship Type="http://schemas.openxmlformats.org/officeDocument/2006/relationships/slide" Target="/ppt/slides/slide14.xml" Id="R5a1e0235bac644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e05b076a2e42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DejaVu Sans"/>
        <a:ea typeface=""/>
        <a:cs typeface=""/>
      </a:majorFont>
      <a:minorFont>
        <a:latin typeface="DejaVu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8a008e2864d42b4" /><Relationship Type="http://schemas.openxmlformats.org/officeDocument/2006/relationships/notesMaster" Target="/ppt/notesMasters/notesMaster1.xml" Id="R10a11b52e25b4e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341c6311af64bb6" /><Relationship Type="http://schemas.openxmlformats.org/officeDocument/2006/relationships/notesMaster" Target="/ppt/notesMasters/notesMaster1.xml" Id="Rfa82628ad5374cc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6e26b04b73645a5" /><Relationship Type="http://schemas.openxmlformats.org/officeDocument/2006/relationships/notesMaster" Target="/ppt/notesMasters/notesMaster1.xml" Id="R7d49a9b25e4b48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d304a0f29004069" /><Relationship Type="http://schemas.openxmlformats.org/officeDocument/2006/relationships/notesMaster" Target="/ppt/notesMasters/notesMaster1.xml" Id="R1985853d5333457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4d5d33f4884b83" /><Relationship Type="http://schemas.openxmlformats.org/officeDocument/2006/relationships/notesMaster" Target="/ppt/notesMasters/notesMaster1.xml" Id="R0f6fa47696064ea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a464811b73440b3" /><Relationship Type="http://schemas.openxmlformats.org/officeDocument/2006/relationships/notesMaster" Target="/ppt/notesMasters/notesMaster1.xml" Id="R247b4379c92c4e3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deb86b79a79459c" /><Relationship Type="http://schemas.openxmlformats.org/officeDocument/2006/relationships/notesMaster" Target="/ppt/notesMasters/notesMaster1.xml" Id="R75262b2bc90e46a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3f0dd539c444d88" /><Relationship Type="http://schemas.openxmlformats.org/officeDocument/2006/relationships/notesMaster" Target="/ppt/notesMasters/notesMaster1.xml" Id="R79a97ed421f44f1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9bad45da1db48e2" /><Relationship Type="http://schemas.openxmlformats.org/officeDocument/2006/relationships/notesMaster" Target="/ppt/notesMasters/notesMaster1.xml" Id="Re5c08e6ddc4343b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dcfe4908bfd4715" /><Relationship Type="http://schemas.openxmlformats.org/officeDocument/2006/relationships/notesMaster" Target="/ppt/notesMasters/notesMaster1.xml" Id="R9c7463cff0e84d9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40d080a2aef416e" /><Relationship Type="http://schemas.openxmlformats.org/officeDocument/2006/relationships/notesMaster" Target="/ppt/notesMasters/notesMaster1.xml" Id="R2b9d54bce1e943c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f73a0c75b58441f" /><Relationship Type="http://schemas.openxmlformats.org/officeDocument/2006/relationships/notesMaster" Target="/ppt/notesMasters/notesMaster1.xml" Id="Ra63ccb6651944b1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f8578fa9dae4595" /><Relationship Type="http://schemas.openxmlformats.org/officeDocument/2006/relationships/notesMaster" Target="/ppt/notesMasters/notesMaster1.xml" Id="Rc4a2e0cbd00e4db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438e15747854b71" /><Relationship Type="http://schemas.openxmlformats.org/officeDocument/2006/relationships/notesMaster" Target="/ppt/notesMasters/notesMaster1.xml" Id="R47cf7a8d95524b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Здравствуйте. Меня зовут Камиль Гатауллин. Представляю FlowDesk, приложение для совместной работы. В новой версии основной экран — «Мой день». Он помогает сотруднику понять, какую работу нужно выполнить сегодня и где требуется ответ коллеги.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README и docs/MY_DAY.md, исходный код FlowDesk и локальные проверки 18.10.2026. Скриншоты настоящих компонентов приложения на демонстрационных данных. Новые функции ещё требуют применения миграции 0013 и публикации на Vercel. Ранее опубликованная версия подтверждена пользователем; новые проверки выполнены локально.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После выбора отдела пользователь попадает в личный рабочий экран. Сверху видны задачи на сегодня, запросы к пользователю и ожидания от коллег. Отдельные блоки показывают, какие карточки требуют работы, а какие обсуждения — внимания. Данные обновляются каждые 15 секунд.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README и docs/MY_DAY.md, исходный код FlowDesk и локальные проверки 18.10.2026. Скриншоты настоящих компонентов приложения на демонстрационных данных. Новые функции ещё требуют применения миграции 0013 и публикации на Vercel. Ранее опубликованная версия подтверждена пользователем; новые проверки выполнены локально.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 «Сегодня» автоматически попадают мои задачи со сроком сегодня или раньше. Другую назначенную мне задачу можно добавить вручную. Как видно на примере, карточка со сроком 22 октября находится в плане на 18 октября, но её дедлайн остался прежним. План персональный и действует на календарный день устройства.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README и docs/MY_DAY.md, исходный код FlowDesk и локальные проверки 18.10.2026. Скриншоты настоящих компонентов приложения на демонстрационных данных. Новые функции ещё требуют применения миграции 0013 и публикации на Vercel. Ранее опубликованная версия подтверждена пользователем; новые проверки выполнены локально.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Если для выполнения карточки не хватает файла, доступа или решения, сотрудник выбирает коллегу и описывает запрос. Запрос сразу связан с задачей. Выбрать можно другого активного участника отдела с правом записи. На задачу допускается один активный запрос. Проверки выполняет PostgreSQL.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README и docs/MY_DAY.md, исходный код FlowDesk и локальные проверки 18.10.2026. Скриншоты настоящих компонентов приложения на демонстрационных данных. Новые функции ещё требуют применения миграции 0013 и публикации на Vercel. Ранее опубликованная версия подтверждена пользователем; новые проверки выполнены локально.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Назначенный коллега увидит запрос в разделе «От меня ждут ответа» и получит уведомление в колокольчике. Он отвечает прямо на этом экране. Если нужен документ, его можно приложить в самой карточке задачи. Это сохраняет связь между вопросом, результатом и рабочим контекстом.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README и docs/MY_DAY.md, исходный код FlowDesk и локальные проверки 18.10.2026. Скриншоты настоящих компонентов приложения на демонстрационных данных. Новые функции ещё требуют применения миграции 0013 и публикации на Vercel. Ранее опубликованная версия подтверждена пользователем; новые проверки выполнены локально.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После ответа запрос меняет статус на «Ответ получен». Он остаётся в ожиданиях автора. Автор проверяет результат и нажимает «Работа продолжена». Только тогда запрос закрывается. Запрос также можно отменить. Операции учитывают права ролей, отдел и блокировку аккаунта.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README и docs/MY_DAY.md, исходный код FlowDesk и локальные проверки 18.10.2026. Скриншоты настоящих компонентов приложения на демонстрационных данных. Новые функции ещё требуют применения миграции 0013 и публикации на Vercel. Ранее опубликованная версия подтверждена пользователем; новые проверки выполнены локально.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Основой проекта остаётся канбан. У задачи есть исполнитель, срок, приоритет, чек-лист и история. Поддерживаются зависимости и архив. Из личного дня можно сразу открыть нужную карточку. Перенос на телефоне доступен через поле колонки без перетаскивания.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README и docs/MY_DAY.md, исходный код FlowDesk и локальные проверки 18.10.2026. Скриншоты настоящих компонентов приложения на демонстрационных данных. Новые функции ещё требуют применения миграции 0013 и публикации на Vercel. Ранее опубликованная версия подтверждена пользователем; новые проверки выполнены локально.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Чат поддерживает сообщения в реальном времени, ответы в ветках, упоминания и вложения. Из сообщения можно создать карточку с сохранением источника. Непрочитанные упоминания и ответы появляются в личном дне. Это поводы проверить обсуждение: приложение не определяет автоматически, является ли сообщение вопросом.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README и docs/MY_DAY.md, исходный код FlowDesk и локальные проверки 18.10.2026. Скриншоты настоящих компонентов приложения на демонстрационных данных. Новые функции ещё требуют применения миграции 0013 и публикации на Vercel. Ранее опубликованная версия подтверждена пользователем; новые проверки выполнены локально.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Календарь показывает сроки по месяцам и поддерживает фильтры. Длина сетки рассчитывается по реальному месяцу. Повторяющиеся задачи создаются через шаблоны, а в опубликованной версии расписание выполняет Supabase Cron. «Мой день» дополняет календарь личным планом и не меняет дедлайны.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README и docs/MY_DAY.md, исходный код FlowDesk и локальные проверки 18.10.2026. Скриншоты настоящих компонентов приложения на демонстрационных данных. Новые функции ещё требуют применения миграции 0013 и публикации на Vercel. Ранее опубликованная версия подтверждена пользователем; новые проверки выполнены локально.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Личный экран адаптируется к узкому экрану. Можно добавить задачу в план, перейти в карточку и обработать запрос помощи. Проверка на ширине 390 пикселей не показала горизонтального переполнения. На слайде фрагмент реального компонента с демонстрационными данными.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README и docs/MY_DAY.md, исходный код FlowDesk и локальные проверки 18.10.2026. Скриншоты настоящих компонентов приложения на демонстрационных данных. Новые функции ещё требуют применения миграции 0013 и публикации на Vercel. Ранее опубликованная версия подтверждена пользователем; новые проверки выполнены локально.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помогает получить резюме переписки, ответы с учётом доски и чата, предложения задач и решения из заметок встречи. Пользователь подтверждает создание предложенных карточек. Ключи провайдера находятся на сервере. Перед отправкой контекста применяется маскирование некоторых чувствительных данных, но это не гарантия полного обезличивания.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README и docs/MY_DAY.md, исходный код FlowDesk и локальные проверки 18.10.2026. Скриншоты настоящих компонентов приложения на демонстрационных данных. Новые функции ещё требуют применения миграции 0013 и публикации на Vercel. Ранее опубликованная версия подтверждена пользователем; новые проверки выполнены локально.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Интеграция GA4 фиксирует просмотры разделов и успешные действия. Загрузка тега происходит после согласия пользователя. В события не передаются тексты задач, переписки и имена файлов. Для нового раздела добавлен фиксированный путь /app/my-day, который не раскрывает идентификатор отдела. На слайде интерфейс согласия.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README и docs/MY_DAY.md, исходный код FlowDesk и локальные проверки 18.10.2026. Скриншоты настоящих компонентов приложения на демонстрационных данных. Новые функции ещё требуют применения миграции 0013 и публикации на Vercel. Ранее опубликованная версия подтверждена пользователем; новые проверки выполнены локально.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Веб-приложение работает на Next.js и React, опубликованная веб-часть находится на Vercel. Supabase предоставляет Auth, PostgreSQL, приватные файлы, Realtime и Cron. Разработка велась с Codex: постановка задачи, изменение кода, проверка сценария. При подготовке нового обновления локально прошли 102 unit-теста, 148 SQL-проверок на 13 миграциях, TypeScript и production-сборка. Эти результаты не означают, что новое обновление уже развёрнуто на публичном адресе.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README и docs/MY_DAY.md, исходный код FlowDesk и локальные проверки 18.10.2026. Скриншоты настоящих компонентов приложения на демонстрационных данных. Новые функции ещё требуют применения миграции 0013 и публикации на Vercel. Ранее опубликованная версия подтверждена пользователем; новые проверки выполнены локально.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 демонстрации я открываю «Мой день», добавляю задачу в план, запрашиваю помощь из карточки и отвечаю со второго аккаунта. Затем автор подтверждает продолжение работы. На рабочем адресе сначала необходимо применить миграцию 0013 и опубликовать обновлённый код. Спасибо за внимание, готов ответить на вопросы.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README и docs/MY_DAY.md, исходный код FlowDesk и локальные проверки 18.10.2026. Скриншоты настоящих компонентов приложения на демонстрационных данных. Новые функции ещё требуют применения миграции 0013 и публикации на Vercel. Ранее опубликованная версия подтверждена пользователем; новые проверки выполнены локально.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a88092aee54e0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96dca4a9fe4c1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4b32e1bb184c2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f34a1a6ddc4a3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67998347d34e5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8d26ffc8154f1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780BF82-0575-47EB-A9DC-C9149FBC1C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8BFACF6-4105-44B3-964C-6EA7FEE0BD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0ECC898-CE87-4855-A21A-508E25795B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1603632-DFF8-4D5A-88E3-DCDD8910AF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BF0AB36-2C2E-4D56-969C-187ECD259C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9A3A602-8BF3-4A21-8641-0D7E4E3502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BCD17C6-A0BC-4316-9C9D-A50A712C6BA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228DC23-3E22-430A-A9CE-5F4B8DCE3F7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FB366EC-88C7-41CF-850B-9E21115ADB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2B6D6A1-FA4B-4F8B-B34D-855CAFF7864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a02d58e3024ef9" /><Relationship Type="http://schemas.openxmlformats.org/officeDocument/2006/relationships/slideLayout" Target="/ppt/slideLayouts/slideLayout1.xml" Id="R4b424c1b24c3422f" /><Relationship Type="http://schemas.openxmlformats.org/officeDocument/2006/relationships/slideLayout" Target="/ppt/slideLayouts/slideLayout2.xml" Id="R352febaa86f74ee2" /><Relationship Type="http://schemas.openxmlformats.org/officeDocument/2006/relationships/slideLayout" Target="/ppt/slideLayouts/slideLayout3.xml" Id="Raeea072229a34e6f" /><Relationship Type="http://schemas.openxmlformats.org/officeDocument/2006/relationships/slideLayout" Target="/ppt/slideLayouts/slideLayout4.xml" Id="R9c98679a633446f3" /><Relationship Type="http://schemas.openxmlformats.org/officeDocument/2006/relationships/slideLayout" Target="/ppt/slideLayouts/slideLayout5.xml" Id="R58b2909a50c7463d" /><Relationship Type="http://schemas.openxmlformats.org/officeDocument/2006/relationships/slideLayout" Target="/ppt/slideLayouts/slideLayout6.xml" Id="R29d81cffbe3b47c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424c1b24c3422f"/>
    <p:sldLayoutId xmlns:r="http://schemas.openxmlformats.org/officeDocument/2006/relationships" id="2147483650" r:id="R352febaa86f74ee2"/>
    <p:sldLayoutId xmlns:r="http://schemas.openxmlformats.org/officeDocument/2006/relationships" id="2147483651" r:id="Raeea072229a34e6f"/>
    <p:sldLayoutId xmlns:r="http://schemas.openxmlformats.org/officeDocument/2006/relationships" id="2147483652" r:id="R9c98679a633446f3"/>
    <p:sldLayoutId xmlns:r="http://schemas.openxmlformats.org/officeDocument/2006/relationships" id="2147483653" r:id="R58b2909a50c7463d"/>
    <p:sldLayoutId xmlns:r="http://schemas.openxmlformats.org/officeDocument/2006/relationships" id="2147483654" r:id="R29d81cffbe3b47c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DejaVu Sans"/>
        <a:ea typeface=""/>
        <a:cs typeface=""/>
      </a:majorFont>
      <a:minorFont>
        <a:latin typeface="DejaVu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050e848a5c4f49" /><Relationship Type="http://schemas.openxmlformats.org/officeDocument/2006/relationships/notesSlide" Target="/ppt/notesSlides/notesSlide1.xml" Id="R1fd9f34fd4cb450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ebbf4c5f874169" /><Relationship Type="http://schemas.openxmlformats.org/officeDocument/2006/relationships/image" Target="/ppt/media/image.png" Id="Re01e29647d2041e0" /><Relationship Type="http://schemas.openxmlformats.org/officeDocument/2006/relationships/notesSlide" Target="/ppt/notesSlides/notesSlide2.xml" Id="Raa842167513b43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2383ba39b94faf" /><Relationship Type="http://schemas.openxmlformats.org/officeDocument/2006/relationships/image" Target="/ppt/media/image2.png" Id="Rdb6e2588cb41494b" /><Relationship Type="http://schemas.openxmlformats.org/officeDocument/2006/relationships/notesSlide" Target="/ppt/notesSlides/notesSlide3.xml" Id="R432758f14f784ca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c1170c0c0342f0" /><Relationship Type="http://schemas.openxmlformats.org/officeDocument/2006/relationships/image" Target="/ppt/media/image3.png" Id="Rfa6361d6b5044ad6" /><Relationship Type="http://schemas.openxmlformats.org/officeDocument/2006/relationships/notesSlide" Target="/ppt/notesSlides/notesSlide4.xml" Id="Rcc5ece26cf0d44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3f5073723a4508" /><Relationship Type="http://schemas.openxmlformats.org/officeDocument/2006/relationships/image" Target="/ppt/media/image4.png" Id="Rb33b16e03b434ac9" /><Relationship Type="http://schemas.openxmlformats.org/officeDocument/2006/relationships/notesSlide" Target="/ppt/notesSlides/notesSlide5.xml" Id="Rc37ff930b55e41c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4fd2270a8a401e" /><Relationship Type="http://schemas.openxmlformats.org/officeDocument/2006/relationships/image" Target="/ppt/media/image5.png" Id="R91ec8f2b4d8f45b5" /><Relationship Type="http://schemas.openxmlformats.org/officeDocument/2006/relationships/notesSlide" Target="/ppt/notesSlides/notesSlide6.xml" Id="R82aa0302acc3414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51b26f9c30449e" /><Relationship Type="http://schemas.openxmlformats.org/officeDocument/2006/relationships/image" Target="/ppt/media/image6.png" Id="Ra7129996350f49a4" /><Relationship Type="http://schemas.openxmlformats.org/officeDocument/2006/relationships/notesSlide" Target="/ppt/notesSlides/notesSlide7.xml" Id="Raad1bcd234904d7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2f389574ba48e2" /><Relationship Type="http://schemas.openxmlformats.org/officeDocument/2006/relationships/image" Target="/ppt/media/image7.png" Id="R2826c787e2204ad0" /><Relationship Type="http://schemas.openxmlformats.org/officeDocument/2006/relationships/notesSlide" Target="/ppt/notesSlides/notesSlide8.xml" Id="R636d6eb3483c4b1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b593fb1aec40df" /><Relationship Type="http://schemas.openxmlformats.org/officeDocument/2006/relationships/image" Target="/ppt/media/image8.png" Id="R53fffaf1b05a4bef" /><Relationship Type="http://schemas.openxmlformats.org/officeDocument/2006/relationships/notesSlide" Target="/ppt/notesSlides/notesSlide9.xml" Id="Rfdbec67ff3ee4c6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7f6fe09e324734" /><Relationship Type="http://schemas.openxmlformats.org/officeDocument/2006/relationships/image" Target="/ppt/media/image9.png" Id="Rff612a66f04d4469" /><Relationship Type="http://schemas.openxmlformats.org/officeDocument/2006/relationships/notesSlide" Target="/ppt/notesSlides/notesSlide10.xml" Id="Rad3890aac4d041b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73501e7b38423f" /><Relationship Type="http://schemas.openxmlformats.org/officeDocument/2006/relationships/notesSlide" Target="/ppt/notesSlides/notesSlide11.xml" Id="R6593ef8e8677454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d9c2c86b614273" /><Relationship Type="http://schemas.openxmlformats.org/officeDocument/2006/relationships/image" Target="/ppt/media/image10.png" Id="R321b0df982ef4b75" /><Relationship Type="http://schemas.openxmlformats.org/officeDocument/2006/relationships/notesSlide" Target="/ppt/notesSlides/notesSlide12.xml" Id="Rce45dee8d9c1400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cf22309e684e7d" /><Relationship Type="http://schemas.openxmlformats.org/officeDocument/2006/relationships/notesSlide" Target="/ppt/notesSlides/notesSlide13.xml" Id="R61d3877f363848e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1f6c33bb1d4206" /><Relationship Type="http://schemas.openxmlformats.org/officeDocument/2006/relationships/image" Target="/ppt/media/image11.png" Id="R77511586db0a4f50" /><Relationship Type="http://schemas.openxmlformats.org/officeDocument/2006/relationships/notesSlide" Target="/ppt/notesSlides/notesSlide14.xml" Id="R466f4c1340d64ad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20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3D729F3A-03A3-4BF4-B02F-01DC411BA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20C4F0B4-60FD-4010-880C-44773ABB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389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3" name="brand">
            <a:extLst xmlns:a="http://schemas.openxmlformats.org/drawingml/2006/main">
              <a:ext uri="{FF2B5EF4-FFF2-40B4-BE49-F238E27FC236}">
                <a16:creationId xmlns:a16="http://schemas.microsoft.com/office/drawing/2014/main" id="{EBE2F8F7-D24B-4B7E-BDB1-9BE5255AB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333500"/>
            <a:ext cx="11049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88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88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88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88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88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88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88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88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88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88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88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pPr>
            <a:r>
              <a:rPr sz="8850" b="1">
                <a:solidFill>
                  <a:srgbClr val="F6F4EF"/>
                </a:solidFill>
                <a:latin typeface="DejaVu Sans"/>
                <a:ea typeface="DejaVu Sans"/>
                <a:cs typeface="DejaVu Sans"/>
              </a:rPr>
              <a:t>FlowDesk</a:t>
            </a:r>
          </a:p>
        </p:txBody>
      </p:sp>
      <p:sp>
        <p:nvSpPr>
          <p:cNvPr id="4" name="tag">
            <a:extLst xmlns:a="http://schemas.openxmlformats.org/drawingml/2006/main">
              <a:ext uri="{FF2B5EF4-FFF2-40B4-BE49-F238E27FC236}">
                <a16:creationId xmlns:a16="http://schemas.microsoft.com/office/drawing/2014/main" id="{5358F48A-9D84-4789-89B5-7840D33A3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22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22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22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22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22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22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22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22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22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22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pPr>
            <a:r>
              <a:rPr sz="3225" b="0">
                <a:solidFill>
                  <a:srgbClr val="F6F4EF"/>
                </a:solidFill>
                <a:latin typeface="DejaVu Sans"/>
                <a:ea typeface="DejaVu Sans"/>
                <a:cs typeface="DejaVu Sans"/>
              </a:rPr>
              <a:t>Мой день и работа команды</a:t>
            </a:r>
          </a:p>
        </p:txBody>
      </p:sp>
      <p:sp>
        <p:nvSpPr>
          <p:cNvPr id="5" name="author">
            <a:extLst xmlns:a="http://schemas.openxmlformats.org/drawingml/2006/main">
              <a:ext uri="{FF2B5EF4-FFF2-40B4-BE49-F238E27FC236}">
                <a16:creationId xmlns:a16="http://schemas.microsoft.com/office/drawing/2014/main" id="{07B8D3D6-308E-4576-A199-CDF01B87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952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ABB6C4"/>
                </a:solidFill>
                <a:latin typeface="DejaVu Sans"/>
                <a:ea typeface="DejaVu Sans"/>
                <a:cs typeface="DejaVu Sans"/>
              </a:rPr>
              <a:t>Камиль Гатауллин</a:t>
            </a:r>
          </a:p>
        </p:txBody>
      </p:sp>
      <p:sp>
        <p:nvSpPr>
          <p:cNvPr id="6" name="date">
            <a:extLst xmlns:a="http://schemas.openxmlformats.org/drawingml/2006/main">
              <a:ext uri="{FF2B5EF4-FFF2-40B4-BE49-F238E27FC236}">
                <a16:creationId xmlns:a16="http://schemas.microsoft.com/office/drawing/2014/main" id="{145CA617-30EC-40E8-92E9-A9F104ED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575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575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575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575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575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575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575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575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575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ABB6C4"/>
                </a:solidFill>
                <a:latin typeface="DejaVu Sans"/>
                <a:ea typeface="DejaVu Sans"/>
                <a:cs typeface="DejaVu Sans"/>
              </a:rPr>
              <a:t>18 октября 2026</a:t>
            </a:r>
          </a:p>
        </p:txBody>
      </p:sp>
    </p:spTree>
    <p:extLst>
      <p:ext uri="{BB962C8B-B14F-4D97-AF65-F5344CB8AC3E}">
        <p14:creationId xmlns:p14="http://schemas.microsoft.com/office/powerpoint/2010/main" val="6093746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0C1F0E28-815C-4BC2-B4B9-0333D4477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pPr>
            <a:r>
              <a: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rPr>
              <a:t>Мой день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3DD561C4-FAD3-43EA-AEFE-DF999237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389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FF0F85-9F23-4ABF-9E1D-1D6890B517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1e29647d2041e0"/>
          <a:srcRect xmlns:a="http://schemas.openxmlformats.org/drawingml/2006/main" l="18000" t="19000" r="1500" b="44000"/>
          <a:stretch xmlns:a="http://schemas.openxmlformats.org/drawingml/2006/main"/>
        </p:blipFill>
        <p:spPr>
          <a:xfrm xmlns:a="http://schemas.openxmlformats.org/drawingml/2006/main">
            <a:off x="571500" y="1853717"/>
            <a:ext cx="11049000" cy="3703016"/>
          </a:xfrm>
          <a:prstGeom xmlns:a="http://schemas.openxmlformats.org/drawingml/2006/main" prst="rect">
            <a:avLst/>
          </a:prstGeom>
        </p:spPr>
      </p:pic>
      <p:sp>
        <p:nvSpPr>
          <p:cNvPr id="4" name="caption">
            <a:extLst xmlns:a="http://schemas.openxmlformats.org/drawingml/2006/main">
              <a:ext uri="{FF2B5EF4-FFF2-40B4-BE49-F238E27FC236}">
                <a16:creationId xmlns:a16="http://schemas.microsoft.com/office/drawing/2014/main" id="{E68BD0AA-4CFE-4B92-9DAF-E599B6A52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rPr>
              <a:t>Задачи и запросы в одном месте</a:t>
            </a:r>
          </a:p>
        </p:txBody>
      </p:sp>
    </p:spTree>
    <p:extLst>
      <p:ext uri="{BB962C8B-B14F-4D97-AF65-F5344CB8AC3E}">
        <p14:creationId xmlns:p14="http://schemas.microsoft.com/office/powerpoint/2010/main" val="12361997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7B05018-83DD-4333-A5F8-6CCED1FEC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pPr>
            <a:r>
              <a: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rPr>
              <a:t>План на сегодня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975BC265-B91D-4C8D-B474-DD507034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389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AA037A-E8C5-4F13-A216-B70B1A421B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6e2588cb41494b"/>
          <a:stretch xmlns:a="http://schemas.openxmlformats.org/drawingml/2006/main"/>
        </p:blipFill>
        <p:spPr>
          <a:xfrm xmlns:a="http://schemas.openxmlformats.org/drawingml/2006/main">
            <a:off x="4381500" y="1641110"/>
            <a:ext cx="7239000" cy="4166331"/>
          </a:xfrm>
          <a:prstGeom xmlns:a="http://schemas.openxmlformats.org/drawingml/2006/main" prst="rect">
            <a:avLst/>
          </a:prstGeom>
        </p:spPr>
      </p:pic>
      <p:sp>
        <p:nvSpPr>
          <p:cNvPr id="4" name="key">
            <a:extLst xmlns:a="http://schemas.openxmlformats.org/drawingml/2006/main">
              <a:ext uri="{FF2B5EF4-FFF2-40B4-BE49-F238E27FC236}">
                <a16:creationId xmlns:a16="http://schemas.microsoft.com/office/drawing/2014/main" id="{6C294C61-E157-46C3-95AF-7C06E1718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3524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0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0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0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0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0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0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0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0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0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D64F1A"/>
                </a:solidFill>
                <a:latin typeface="DejaVu Sans"/>
                <a:ea typeface="DejaVu Sans"/>
                <a:cs typeface="DejaVu Sans"/>
              </a:rPr>
              <a:t>Срок задачи</a:t>
            </a:r>
          </a:p>
          <a:p xmlns:a="http://schemas.openxmlformats.org/drawingml/2006/main">
            <a:pPr>
              <a:defRPr sz="30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D64F1A"/>
                </a:solidFill>
                <a:latin typeface="DejaVu Sans"/>
                <a:ea typeface="DejaVu Sans"/>
                <a:cs typeface="DejaVu Sans"/>
              </a:rPr>
              <a:t>не меняется</a:t>
            </a:r>
          </a:p>
        </p:txBody>
      </p:sp>
      <p:sp>
        <p:nvSpPr>
          <p:cNvPr id="5" name="note">
            <a:extLst xmlns:a="http://schemas.openxmlformats.org/drawingml/2006/main">
              <a:ext uri="{FF2B5EF4-FFF2-40B4-BE49-F238E27FC236}">
                <a16:creationId xmlns:a16="http://schemas.microsoft.com/office/drawing/2014/main" id="{F5877E50-5C3E-43C1-8E95-F089F985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rPr>
              <a:t>Личный план</a:t>
            </a:r>
          </a:p>
          <a:p xmlns:a="http://schemas.openxmlformats.org/drawingml/2006/main">
            <a: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rPr>
              <a:t>на каждый день</a:t>
            </a:r>
          </a:p>
        </p:txBody>
      </p:sp>
    </p:spTree>
    <p:extLst>
      <p:ext uri="{BB962C8B-B14F-4D97-AF65-F5344CB8AC3E}">
        <p14:creationId xmlns:p14="http://schemas.microsoft.com/office/powerpoint/2010/main" val="20467338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3BD558A5-27D8-4296-9638-BB45080D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pPr>
            <a:r>
              <a: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rPr>
              <a:t>Запрос помощи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25D62C42-7D9A-4012-AA8B-A7E97FA34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389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FB8BB6-D601-4222-B516-290F8F1C30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6361d6b5044ad6"/>
          <a:srcRect xmlns:a="http://schemas.openxmlformats.org/drawingml/2006/main" l="20500" t="15000" r="20500" b="34000"/>
          <a:stretch xmlns:a="http://schemas.openxmlformats.org/drawingml/2006/main"/>
        </p:blipFill>
        <p:spPr>
          <a:xfrm xmlns:a="http://schemas.openxmlformats.org/drawingml/2006/main">
            <a:off x="2179707" y="1581150"/>
            <a:ext cx="7832587" cy="4276725"/>
          </a:xfrm>
          <a:prstGeom xmlns:a="http://schemas.openxmlformats.org/drawingml/2006/main" prst="rect">
            <a:avLst/>
          </a:prstGeom>
        </p:spPr>
      </p:pic>
      <p:sp>
        <p:nvSpPr>
          <p:cNvPr id="4" name="caption">
            <a:extLst xmlns:a="http://schemas.openxmlformats.org/drawingml/2006/main">
              <a:ext uri="{FF2B5EF4-FFF2-40B4-BE49-F238E27FC236}">
                <a16:creationId xmlns:a16="http://schemas.microsoft.com/office/drawing/2014/main" id="{BA2CDAC7-DFD4-4826-B146-005C9D08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D64F1A"/>
                </a:solidFill>
                <a:latin typeface="DejaVu Sans"/>
                <a:ea typeface="DejaVu Sans"/>
                <a:cs typeface="DejaVu Sans"/>
              </a:rPr>
              <a:t>Кто поможет и что требуется</a:t>
            </a:r>
          </a:p>
        </p:txBody>
      </p:sp>
    </p:spTree>
    <p:extLst>
      <p:ext uri="{BB962C8B-B14F-4D97-AF65-F5344CB8AC3E}">
        <p14:creationId xmlns:p14="http://schemas.microsoft.com/office/powerpoint/2010/main" val="4829054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20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F6FBD5E4-3575-4CF3-9D6F-7020CC03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pPr>
            <a:r>
              <a: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rPr>
              <a:t>Запрос у коллеги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E53CFD42-15B0-4B63-BDD8-F5C30781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389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21A6AF-2D31-45E8-AC0B-A6B4AC545F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3b16e03b434ac9"/>
          <a:stretch xmlns:a="http://schemas.openxmlformats.org/drawingml/2006/main"/>
        </p:blipFill>
        <p:spPr>
          <a:xfrm xmlns:a="http://schemas.openxmlformats.org/drawingml/2006/main">
            <a:off x="4785533" y="1571625"/>
            <a:ext cx="6497608" cy="4429125"/>
          </a:xfrm>
          <a:prstGeom xmlns:a="http://schemas.openxmlformats.org/drawingml/2006/main" prst="rect">
            <a:avLst/>
          </a:prstGeom>
        </p:spPr>
      </p:pic>
      <p:sp>
        <p:nvSpPr>
          <p:cNvPr id="4" name="left">
            <a:extLst xmlns:a="http://schemas.openxmlformats.org/drawingml/2006/main">
              <a:ext uri="{FF2B5EF4-FFF2-40B4-BE49-F238E27FC236}">
                <a16:creationId xmlns:a16="http://schemas.microsoft.com/office/drawing/2014/main" id="{CD3D0577-90DB-459D-BA97-27363D91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3810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00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00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00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00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00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00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00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00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00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F6F4EF"/>
                </a:solidFill>
                <a:latin typeface="DejaVu Sans"/>
                <a:ea typeface="DejaVu Sans"/>
                <a:cs typeface="DejaVu Sans"/>
              </a:rPr>
              <a:t>Ответ прямо</a:t>
            </a:r>
          </a:p>
          <a:p xmlns:a="http://schemas.openxmlformats.org/drawingml/2006/main">
            <a:pPr>
              <a:defRPr sz="300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F6F4EF"/>
                </a:solidFill>
                <a:latin typeface="DejaVu Sans"/>
                <a:ea typeface="DejaVu Sans"/>
                <a:cs typeface="DejaVu Sans"/>
              </a:rPr>
              <a:t>в «Моём дне»</a:t>
            </a:r>
          </a:p>
        </p:txBody>
      </p:sp>
    </p:spTree>
    <p:extLst>
      <p:ext uri="{BB962C8B-B14F-4D97-AF65-F5344CB8AC3E}">
        <p14:creationId xmlns:p14="http://schemas.microsoft.com/office/powerpoint/2010/main" val="20024630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8C888FD2-ABD9-4780-A2EA-83FE6E38C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pPr>
            <a:r>
              <a: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rPr>
              <a:t>Ответ и продолжение работы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39820A10-4AC2-4511-908A-40150488A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389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C6ECDA-3A9E-48FD-8280-83393D04F3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ec8f2b4d8f45b5"/>
          <a:stretch xmlns:a="http://schemas.openxmlformats.org/drawingml/2006/main"/>
        </p:blipFill>
        <p:spPr>
          <a:xfrm xmlns:a="http://schemas.openxmlformats.org/drawingml/2006/main">
            <a:off x="4829649" y="1562100"/>
            <a:ext cx="6152202" cy="4448175"/>
          </a:xfrm>
          <a:prstGeom xmlns:a="http://schemas.openxmlformats.org/drawingml/2006/main" prst="rect">
            <a:avLst/>
          </a:prstGeom>
        </p:spPr>
      </p:pic>
      <p:sp>
        <p:nvSpPr>
          <p:cNvPr id="4" name="left">
            <a:extLst xmlns:a="http://schemas.openxmlformats.org/drawingml/2006/main">
              <a:ext uri="{FF2B5EF4-FFF2-40B4-BE49-F238E27FC236}">
                <a16:creationId xmlns:a16="http://schemas.microsoft.com/office/drawing/2014/main" id="{6BC5E9BF-2F8A-471A-AF14-D8616022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328612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8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8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8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8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8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8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8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8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8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8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pPr>
            <a:r>
              <a:rPr sz="2850" b="1">
                <a:solidFill>
                  <a:srgbClr val="D64F1A"/>
                </a:solidFill>
                <a:latin typeface="DejaVu Sans"/>
                <a:ea typeface="DejaVu Sans"/>
                <a:cs typeface="DejaVu Sans"/>
              </a:rPr>
              <a:t>Автор</a:t>
            </a:r>
          </a:p>
          <a:p xmlns:a="http://schemas.openxmlformats.org/drawingml/2006/main">
            <a:pPr>
              <a:defRPr sz="28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pPr>
            <a:r>
              <a:rPr sz="2850" b="1">
                <a:solidFill>
                  <a:srgbClr val="D64F1A"/>
                </a:solidFill>
                <a:latin typeface="DejaVu Sans"/>
                <a:ea typeface="DejaVu Sans"/>
                <a:cs typeface="DejaVu Sans"/>
              </a:rPr>
              <a:t>подтверждает</a:t>
            </a:r>
          </a:p>
          <a:p xmlns:a="http://schemas.openxmlformats.org/drawingml/2006/main">
            <a:pPr>
              <a:defRPr sz="285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pPr>
            <a:r>
              <a:rPr sz="2850" b="1">
                <a:solidFill>
                  <a:srgbClr val="D64F1A"/>
                </a:solidFill>
                <a:latin typeface="DejaVu Sans"/>
                <a:ea typeface="DejaVu Sans"/>
                <a:cs typeface="DejaVu Sans"/>
              </a:rPr>
              <a:t>результат</a:t>
            </a:r>
          </a:p>
        </p:txBody>
      </p:sp>
    </p:spTree>
    <p:extLst>
      <p:ext uri="{BB962C8B-B14F-4D97-AF65-F5344CB8AC3E}">
        <p14:creationId xmlns:p14="http://schemas.microsoft.com/office/powerpoint/2010/main" val="11187784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ABDAEC2F-3F9B-47A8-908E-8F4599F7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pPr>
            <a:r>
              <a: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rPr>
              <a:t>Канбан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D8DC194D-A14D-4F49-BDCA-7E455B79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389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D6F18A-2882-47EB-A271-F531784454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129996350f49a4"/>
          <a:srcRect xmlns:a="http://schemas.openxmlformats.org/drawingml/2006/main" l="17000" t="8000" r="1500" b="36000"/>
          <a:stretch xmlns:a="http://schemas.openxmlformats.org/drawingml/2006/main"/>
        </p:blipFill>
        <p:spPr>
          <a:xfrm xmlns:a="http://schemas.openxmlformats.org/drawingml/2006/main">
            <a:off x="1454910" y="1533525"/>
            <a:ext cx="9282181" cy="4429125"/>
          </a:xfrm>
          <a:prstGeom xmlns:a="http://schemas.openxmlformats.org/drawingml/2006/main" prst="rect">
            <a:avLst/>
          </a:prstGeom>
        </p:spPr>
      </p:pic>
      <p:sp>
        <p:nvSpPr>
          <p:cNvPr id="4" name="caption">
            <a:extLst xmlns:a="http://schemas.openxmlformats.org/drawingml/2006/main">
              <a:ext uri="{FF2B5EF4-FFF2-40B4-BE49-F238E27FC236}">
                <a16:creationId xmlns:a16="http://schemas.microsoft.com/office/drawing/2014/main" id="{452E947A-3817-4A17-95FF-A089020E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63717D"/>
                </a:solidFill>
                <a:latin typeface="DejaVu Sans"/>
                <a:ea typeface="DejaVu Sans"/>
                <a:cs typeface="DejaVu Sans"/>
              </a:rPr>
              <a:t>Карточка сохраняет весь контекст</a:t>
            </a:r>
          </a:p>
        </p:txBody>
      </p:sp>
    </p:spTree>
    <p:extLst>
      <p:ext uri="{BB962C8B-B14F-4D97-AF65-F5344CB8AC3E}">
        <p14:creationId xmlns:p14="http://schemas.microsoft.com/office/powerpoint/2010/main" val="6478794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F249B626-40C4-4917-B838-863395274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pPr>
            <a:r>
              <a: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rPr>
              <a:t>Обсуждения и файлы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1BB1F4C3-1649-43BB-9A13-07EF4388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389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4D067D-1687-4CED-9E6F-CBC0F43337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26c787e2204ad0"/>
          <a:srcRect xmlns:a="http://schemas.openxmlformats.org/drawingml/2006/main" l="17000" t="10000" r="1500" b="34000"/>
          <a:stretch xmlns:a="http://schemas.openxmlformats.org/drawingml/2006/main"/>
        </p:blipFill>
        <p:spPr>
          <a:xfrm xmlns:a="http://schemas.openxmlformats.org/drawingml/2006/main">
            <a:off x="1474871" y="1552575"/>
            <a:ext cx="9242257" cy="4410075"/>
          </a:xfrm>
          <a:prstGeom xmlns:a="http://schemas.openxmlformats.org/drawingml/2006/main" prst="rect">
            <a:avLst/>
          </a:prstGeom>
        </p:spPr>
      </p:pic>
      <p:sp>
        <p:nvSpPr>
          <p:cNvPr id="4" name="caption">
            <a:extLst xmlns:a="http://schemas.openxmlformats.org/drawingml/2006/main">
              <a:ext uri="{FF2B5EF4-FFF2-40B4-BE49-F238E27FC236}">
                <a16:creationId xmlns:a16="http://schemas.microsoft.com/office/drawing/2014/main" id="{EBF075B1-7DD6-48D5-80F4-160555A1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D64F1A"/>
                </a:solidFill>
                <a:latin typeface="DejaVu Sans"/>
                <a:ea typeface="DejaVu Sans"/>
                <a:cs typeface="DejaVu Sans"/>
              </a:rPr>
              <a:t>Обсуждение связано с задачей</a:t>
            </a:r>
          </a:p>
        </p:txBody>
      </p:sp>
    </p:spTree>
    <p:extLst>
      <p:ext uri="{BB962C8B-B14F-4D97-AF65-F5344CB8AC3E}">
        <p14:creationId xmlns:p14="http://schemas.microsoft.com/office/powerpoint/2010/main" val="12186189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DAD5788-5231-452D-9ECE-084F86D1A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pPr>
            <a:r>
              <a: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rPr>
              <a:t>Календарь сроков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6A2C1C40-454B-4F22-81A0-FCC1023F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389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E6937A-AEE1-4577-B38D-70C58549B9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fffaf1b05a4bef"/>
          <a:srcRect xmlns:a="http://schemas.openxmlformats.org/drawingml/2006/main" l="17000" t="18000" r="1500" b="500"/>
          <a:stretch xmlns:a="http://schemas.openxmlformats.org/drawingml/2006/main"/>
        </p:blipFill>
        <p:spPr>
          <a:xfrm xmlns:a="http://schemas.openxmlformats.org/drawingml/2006/main">
            <a:off x="2845308" y="1524000"/>
            <a:ext cx="6501384" cy="45148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8641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DAA670E3-07F1-4EDC-B566-2C25BED09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pPr>
            <a:r>
              <a: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rPr>
              <a:t>Мой день на телефоне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0BC2265E-8071-4C7F-915C-52987646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389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CD35D4-169F-4B00-8F15-50A9B3FC7E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612a66f04d4469"/>
          <a:stretch xmlns:a="http://schemas.openxmlformats.org/drawingml/2006/main"/>
        </p:blipFill>
        <p:spPr>
          <a:xfrm xmlns:a="http://schemas.openxmlformats.org/drawingml/2006/main">
            <a:off x="7113922" y="1504950"/>
            <a:ext cx="3679157" cy="4686300"/>
          </a:xfrm>
          <a:prstGeom xmlns:a="http://schemas.openxmlformats.org/drawingml/2006/main" prst="rect">
            <a:avLst/>
          </a:prstGeom>
        </p:spPr>
      </p:pic>
      <p:sp>
        <p:nvSpPr>
          <p:cNvPr id="4" name="mobile">
            <a:extLst xmlns:a="http://schemas.openxmlformats.org/drawingml/2006/main">
              <a:ext uri="{FF2B5EF4-FFF2-40B4-BE49-F238E27FC236}">
                <a16:creationId xmlns:a16="http://schemas.microsoft.com/office/drawing/2014/main" id="{BC570B4C-DA44-4285-96D2-4663A82B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5429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00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00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00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00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00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00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00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00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00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72331"/>
                </a:solidFill>
                <a:latin typeface="DejaVu Sans"/>
                <a:ea typeface="DejaVu Sans"/>
                <a:cs typeface="DejaVu Sans"/>
              </a:rPr>
              <a:t>Те же действия</a:t>
            </a:r>
          </a:p>
          <a:p xmlns:a="http://schemas.openxmlformats.org/drawingml/2006/main">
            <a:pPr>
              <a:defRPr sz="300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72331"/>
                </a:solidFill>
                <a:latin typeface="DejaVu Sans"/>
                <a:ea typeface="DejaVu Sans"/>
                <a:cs typeface="DejaVu Sans"/>
              </a:rPr>
              <a:t>на узком экране</a:t>
            </a:r>
          </a:p>
        </p:txBody>
      </p:sp>
    </p:spTree>
    <p:extLst>
      <p:ext uri="{BB962C8B-B14F-4D97-AF65-F5344CB8AC3E}">
        <p14:creationId xmlns:p14="http://schemas.microsoft.com/office/powerpoint/2010/main" val="94225039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120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CEEF0495-A71F-4616-ADDA-258D3B8B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pPr>
            <a:r>
              <a: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rPr>
              <a:t>AI-помощник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B5693025-3D63-4C87-A999-DDA7669D1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389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  <p:sp>
        <p:nvSpPr>
          <p:cNvPr id="3" name="cmd0">
            <a:extLst xmlns:a="http://schemas.openxmlformats.org/drawingml/2006/main">
              <a:ext uri="{FF2B5EF4-FFF2-40B4-BE49-F238E27FC236}">
                <a16:creationId xmlns:a16="http://schemas.microsoft.com/office/drawing/2014/main" id="{E6A9227D-C799-4E6C-B530-8D26C716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14525"/>
            <a:ext cx="333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rPr>
              <a:t>/task</a:t>
            </a:r>
          </a:p>
        </p:txBody>
      </p:sp>
      <p:sp>
        <p:nvSpPr>
          <p:cNvPr id="4" name="desc0">
            <a:extLst xmlns:a="http://schemas.openxmlformats.org/drawingml/2006/main">
              <a:ext uri="{FF2B5EF4-FFF2-40B4-BE49-F238E27FC236}">
                <a16:creationId xmlns:a16="http://schemas.microsoft.com/office/drawing/2014/main" id="{34870D76-56C1-49C6-80E4-4578289C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971675"/>
            <a:ext cx="6429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rPr>
              <a:t>Черновик задачи</a:t>
            </a:r>
          </a:p>
        </p:txBody>
      </p:sp>
      <p:sp>
        <p:nvSpPr>
          <p:cNvPr id="5" name="cmd1">
            <a:extLst xmlns:a="http://schemas.openxmlformats.org/drawingml/2006/main">
              <a:ext uri="{FF2B5EF4-FFF2-40B4-BE49-F238E27FC236}">
                <a16:creationId xmlns:a16="http://schemas.microsoft.com/office/drawing/2014/main" id="{F6C70607-B0BA-4150-B09F-48FF214D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333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rPr>
              <a:t>/summary</a:t>
            </a:r>
          </a:p>
        </p:txBody>
      </p:sp>
      <p:sp>
        <p:nvSpPr>
          <p:cNvPr id="6" name="desc1">
            <a:extLst xmlns:a="http://schemas.openxmlformats.org/drawingml/2006/main">
              <a:ext uri="{FF2B5EF4-FFF2-40B4-BE49-F238E27FC236}">
                <a16:creationId xmlns:a16="http://schemas.microsoft.com/office/drawing/2014/main" id="{03353065-016C-47C0-9F5F-B357DAC4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867025"/>
            <a:ext cx="6429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rPr>
              <a:t>Резюме чата</a:t>
            </a:r>
          </a:p>
        </p:txBody>
      </p:sp>
      <p:sp>
        <p:nvSpPr>
          <p:cNvPr id="7" name="cmd2">
            <a:extLst xmlns:a="http://schemas.openxmlformats.org/drawingml/2006/main">
              <a:ext uri="{FF2B5EF4-FFF2-40B4-BE49-F238E27FC236}">
                <a16:creationId xmlns:a16="http://schemas.microsoft.com/office/drawing/2014/main" id="{EB8D399E-78E2-4774-BF80-23B5F230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333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rPr>
              <a:t>/ask</a:t>
            </a:r>
          </a:p>
        </p:txBody>
      </p:sp>
      <p:sp>
        <p:nvSpPr>
          <p:cNvPr id="8" name="desc2">
            <a:extLst xmlns:a="http://schemas.openxmlformats.org/drawingml/2006/main">
              <a:ext uri="{FF2B5EF4-FFF2-40B4-BE49-F238E27FC236}">
                <a16:creationId xmlns:a16="http://schemas.microsoft.com/office/drawing/2014/main" id="{6A90EABC-2044-47BF-BA98-31705BC8C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762375"/>
            <a:ext cx="6429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rPr>
              <a:t>Ответ по контексту</a:t>
            </a:r>
          </a:p>
        </p:txBody>
      </p:sp>
      <p:sp>
        <p:nvSpPr>
          <p:cNvPr id="9" name="cmd3">
            <a:extLst xmlns:a="http://schemas.openxmlformats.org/drawingml/2006/main">
              <a:ext uri="{FF2B5EF4-FFF2-40B4-BE49-F238E27FC236}">
                <a16:creationId xmlns:a16="http://schemas.microsoft.com/office/drawing/2014/main" id="{1170FFE4-8855-485C-9624-709C36E98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333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FCAA72"/>
                </a:solidFill>
                <a:latin typeface="DejaVu Sans"/>
                <a:ea typeface="DejaVu Sans"/>
                <a:cs typeface="DejaVu Sans"/>
              </a:rPr>
              <a:t>/meeting</a:t>
            </a:r>
          </a:p>
        </p:txBody>
      </p:sp>
      <p:sp>
        <p:nvSpPr>
          <p:cNvPr id="10" name="desc3">
            <a:extLst xmlns:a="http://schemas.openxmlformats.org/drawingml/2006/main">
              <a:ext uri="{FF2B5EF4-FFF2-40B4-BE49-F238E27FC236}">
                <a16:creationId xmlns:a16="http://schemas.microsoft.com/office/drawing/2014/main" id="{14A0B40F-3A4D-49A3-BF54-7FCEA3643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657725"/>
            <a:ext cx="6429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F6F4EF"/>
                </a:solidFill>
                <a:latin typeface="DejaVu Sans"/>
                <a:ea typeface="DejaVu Sans"/>
                <a:cs typeface="DejaVu Sans"/>
              </a:rPr>
              <a:t>Задачи из встречи</a:t>
            </a:r>
          </a:p>
        </p:txBody>
      </p:sp>
    </p:spTree>
    <p:extLst>
      <p:ext uri="{BB962C8B-B14F-4D97-AF65-F5344CB8AC3E}">
        <p14:creationId xmlns:p14="http://schemas.microsoft.com/office/powerpoint/2010/main" val="127122524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058C0E9F-2902-4BEF-9CFD-202ED3D8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pPr>
            <a:r>
              <a: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rPr>
              <a:t>Google Analytics 4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17442C72-D518-4EF9-96A0-B453086B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389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4C33FE-4716-41A0-B420-2416B2DCDA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1b0df982ef4b75"/>
          <a:srcRect xmlns:a="http://schemas.openxmlformats.org/drawingml/2006/main" l="58900" t="79500" r="900" b="1200"/>
          <a:stretch xmlns:a="http://schemas.openxmlformats.org/drawingml/2006/main"/>
        </p:blipFill>
        <p:spPr>
          <a:xfrm xmlns:a="http://schemas.openxmlformats.org/drawingml/2006/main">
            <a:off x="571500" y="1754595"/>
            <a:ext cx="11049000" cy="3729811"/>
          </a:xfrm>
          <a:prstGeom xmlns:a="http://schemas.openxmlformats.org/drawingml/2006/main" prst="rect">
            <a:avLst/>
          </a:prstGeom>
        </p:spPr>
      </p:pic>
      <p:sp>
        <p:nvSpPr>
          <p:cNvPr id="4" name="caption">
            <a:extLst xmlns:a="http://schemas.openxmlformats.org/drawingml/2006/main">
              <a:ext uri="{FF2B5EF4-FFF2-40B4-BE49-F238E27FC236}">
                <a16:creationId xmlns:a16="http://schemas.microsoft.com/office/drawing/2014/main" id="{395FE4ED-47D3-46C1-9637-7672513E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325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325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325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325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325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325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325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325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325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325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pPr>
            <a:r>
              <a:rPr sz="2325" b="1">
                <a:solidFill>
                  <a:srgbClr val="D64F1A"/>
                </a:solidFill>
                <a:latin typeface="DejaVu Sans"/>
                <a:ea typeface="DejaVu Sans"/>
                <a:cs typeface="DejaVu Sans"/>
              </a:rPr>
              <a:t>Аналитика после согласия</a:t>
            </a:r>
          </a:p>
        </p:txBody>
      </p:sp>
    </p:spTree>
    <p:extLst>
      <p:ext uri="{BB962C8B-B14F-4D97-AF65-F5344CB8AC3E}">
        <p14:creationId xmlns:p14="http://schemas.microsoft.com/office/powerpoint/2010/main" val="82060429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1B0BCB39-3931-43E1-A269-BA78E93C4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pPr>
            <a:r>
              <a:rPr sz="3750" b="1">
                <a:solidFill>
                  <a:srgbClr val="172331"/>
                </a:solidFill>
                <a:latin typeface="DejaVu Sans"/>
                <a:ea typeface="DejaVu Sans"/>
                <a:cs typeface="DejaVu Sans"/>
              </a:rPr>
              <a:t>Архитектура и проверки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364856EB-3B60-4E58-9C67-AF1CE812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389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3717D"/>
                </a:solidFill>
                <a:latin typeface="DejaVu Sans"/>
                <a:ea typeface="DejaVu Sans"/>
                <a:cs typeface="DejaVu Sans"/>
              </a:rPr>
              <a:t>13</a:t>
            </a:r>
          </a:p>
        </p:txBody>
      </p:sp>
      <p:sp>
        <p:nvSpPr>
          <p:cNvPr id="3" name="web">
            <a:extLst xmlns:a="http://schemas.openxmlformats.org/drawingml/2006/main">
              <a:ext uri="{FF2B5EF4-FFF2-40B4-BE49-F238E27FC236}">
                <a16:creationId xmlns:a16="http://schemas.microsoft.com/office/drawing/2014/main" id="{CDC07AA7-DDD6-45B2-A9E9-115AC996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495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pPr>
            <a:r>
              <a: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rPr>
              <a:t>Vercel</a:t>
            </a:r>
          </a:p>
        </p:txBody>
      </p:sp>
      <p:sp>
        <p:nvSpPr>
          <p:cNvPr id="4" name="db">
            <a:extLst xmlns:a="http://schemas.openxmlformats.org/drawingml/2006/main">
              <a:ext uri="{FF2B5EF4-FFF2-40B4-BE49-F238E27FC236}">
                <a16:creationId xmlns:a16="http://schemas.microsoft.com/office/drawing/2014/main" id="{65ABA323-DECA-44FC-B9D2-0F10EA6E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38325"/>
            <a:ext cx="495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pPr>
            <a:r>
              <a:rPr sz="3375" b="1">
                <a:solidFill>
                  <a:srgbClr val="172331"/>
                </a:solidFill>
                <a:latin typeface="DejaVu Sans"/>
                <a:ea typeface="DejaVu Sans"/>
                <a:cs typeface="DejaVu Sans"/>
              </a:rPr>
              <a:t>Supabase</a:t>
            </a:r>
          </a:p>
        </p:txBody>
      </p:sp>
      <p:sp>
        <p:nvSpPr>
          <p:cNvPr id="5" name="webdesc">
            <a:extLst xmlns:a="http://schemas.openxmlformats.org/drawingml/2006/main">
              <a:ext uri="{FF2B5EF4-FFF2-40B4-BE49-F238E27FC236}">
                <a16:creationId xmlns:a16="http://schemas.microsoft.com/office/drawing/2014/main" id="{1535CBF7-EB44-46A1-A3E9-28CDB1E5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04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rPr>
              <a:t>Next.js и React</a:t>
            </a:r>
          </a:p>
        </p:txBody>
      </p:sp>
      <p:sp>
        <p:nvSpPr>
          <p:cNvPr id="6" name="dbdesc">
            <a:extLst xmlns:a="http://schemas.openxmlformats.org/drawingml/2006/main">
              <a:ext uri="{FF2B5EF4-FFF2-40B4-BE49-F238E27FC236}">
                <a16:creationId xmlns:a16="http://schemas.microsoft.com/office/drawing/2014/main" id="{0F6A82A3-F994-4BB4-B441-EDA2A73E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67000"/>
            <a:ext cx="504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3717D"/>
                </a:solidFill>
                <a:latin typeface="DejaVu Sans"/>
                <a:ea typeface="DejaVu Sans"/>
                <a:cs typeface="DejaVu Sans"/>
              </a:rPr>
              <a:t>Данные и доступ</a:t>
            </a:r>
          </a:p>
        </p:txBody>
      </p:sp>
      <p:sp>
        <p:nvSpPr>
          <p:cNvPr id="7" name="unit">
            <a:extLst xmlns:a="http://schemas.openxmlformats.org/drawingml/2006/main">
              <a:ext uri="{FF2B5EF4-FFF2-40B4-BE49-F238E27FC236}">
                <a16:creationId xmlns:a16="http://schemas.microsoft.com/office/drawing/2014/main" id="{8C79A0CA-FF22-4584-BCC4-A083CBA3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14725"/>
            <a:ext cx="48577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pPr>
            <a:r>
              <a: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rPr>
              <a:t>102</a:t>
            </a:r>
          </a:p>
        </p:txBody>
      </p:sp>
      <p:sp>
        <p:nvSpPr>
          <p:cNvPr id="8" name="sql">
            <a:extLst xmlns:a="http://schemas.openxmlformats.org/drawingml/2006/main">
              <a:ext uri="{FF2B5EF4-FFF2-40B4-BE49-F238E27FC236}">
                <a16:creationId xmlns:a16="http://schemas.microsoft.com/office/drawing/2014/main" id="{4A4217C9-15DD-4DC5-9FA2-56CC2C0B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514725"/>
            <a:ext cx="5000625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defRPr>
            </a:pPr>
            <a:r>
              <a:rPr sz="7800" b="1">
                <a:solidFill>
                  <a:srgbClr val="D64F1A"/>
                </a:solidFill>
                <a:latin typeface="DejaVu Sans"/>
                <a:ea typeface="DejaVu Sans"/>
                <a:cs typeface="DejaVu Sans"/>
              </a:rPr>
              <a:t>148</a:t>
            </a:r>
          </a:p>
        </p:txBody>
      </p:sp>
      <p:sp>
        <p:nvSpPr>
          <p:cNvPr id="9" name="unitlabel">
            <a:extLst xmlns:a="http://schemas.openxmlformats.org/drawingml/2006/main">
              <a:ext uri="{FF2B5EF4-FFF2-40B4-BE49-F238E27FC236}">
                <a16:creationId xmlns:a16="http://schemas.microsoft.com/office/drawing/2014/main" id="{C645402E-0484-4E32-87E2-A1258260E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504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rPr>
              <a:t>unit-теста</a:t>
            </a:r>
          </a:p>
        </p:txBody>
      </p:sp>
      <p:sp>
        <p:nvSpPr>
          <p:cNvPr id="10" name="sqllabel">
            <a:extLst xmlns:a="http://schemas.openxmlformats.org/drawingml/2006/main">
              <a:ext uri="{FF2B5EF4-FFF2-40B4-BE49-F238E27FC236}">
                <a16:creationId xmlns:a16="http://schemas.microsoft.com/office/drawing/2014/main" id="{05B17714-6D0F-47A5-A9CF-05EDC02D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905375"/>
            <a:ext cx="504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72331"/>
                </a:solidFill>
                <a:latin typeface="DejaVu Sans"/>
                <a:ea typeface="DejaVu Sans"/>
                <a:cs typeface="DejaVu Sans"/>
              </a:rPr>
              <a:t>проверок PostgreSQL</a:t>
            </a:r>
          </a:p>
        </p:txBody>
      </p:sp>
      <p:sp>
        <p:nvSpPr>
          <p:cNvPr id="11" name="local">
            <a:extLst xmlns:a="http://schemas.openxmlformats.org/drawingml/2006/main">
              <a:ext uri="{FF2B5EF4-FFF2-40B4-BE49-F238E27FC236}">
                <a16:creationId xmlns:a16="http://schemas.microsoft.com/office/drawing/2014/main" id="{E3CFE2BE-2ED0-4E7A-B0B4-CC1FF6192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95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63717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3717D"/>
                </a:solidFill>
                <a:latin typeface="DejaVu Sans"/>
                <a:ea typeface="DejaVu Sans"/>
                <a:cs typeface="DejaVu Sans"/>
              </a:rPr>
              <a:t>Локальная проверка новой версии</a:t>
            </a:r>
          </a:p>
        </p:txBody>
      </p:sp>
    </p:spTree>
    <p:extLst>
      <p:ext uri="{BB962C8B-B14F-4D97-AF65-F5344CB8AC3E}">
        <p14:creationId xmlns:p14="http://schemas.microsoft.com/office/powerpoint/2010/main" val="189608475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120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CA79491A-813F-464F-8B89-BDB666AA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pPr>
            <a:r>
              <a:rPr sz="3750" b="1">
                <a:solidFill>
                  <a:srgbClr val="F6F4EF"/>
                </a:solidFill>
                <a:latin typeface="DejaVu Sans"/>
                <a:ea typeface="DejaVu Sans"/>
                <a:cs typeface="DejaVu Sans"/>
              </a:rPr>
              <a:t>Демонстрация FlowDesk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F407E2B8-5DEA-4DA9-9488-2ACCA1DC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389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ABB6C4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  <p:sp>
        <p:nvSpPr>
          <p:cNvPr id="3" name="url">
            <a:extLst xmlns:a="http://schemas.openxmlformats.org/drawingml/2006/main">
              <a:ext uri="{FF2B5EF4-FFF2-40B4-BE49-F238E27FC236}">
                <a16:creationId xmlns:a16="http://schemas.microsoft.com/office/drawing/2014/main" id="{E24B99AC-B001-49FF-A8A3-0723D8C68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225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225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225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225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225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225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225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225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225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6F4EF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6F4EF"/>
                </a:solidFill>
                <a:latin typeface="DejaVu Sans"/>
                <a:ea typeface="DejaVu Sans"/>
                <a:cs typeface="DejaVu Sans"/>
              </a:rPr>
              <a:t>flowdesk-alpha-teal.vercel.app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A30B5A-5290-4653-8199-72AF54A184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511586db0a4f50"/>
          <a:stretch xmlns:a="http://schemas.openxmlformats.org/drawingml/2006/main"/>
        </p:blipFill>
        <p:spPr>
          <a:xfrm xmlns:a="http://schemas.openxmlformats.org/drawingml/2006/main">
            <a:off x="609600" y="3728752"/>
            <a:ext cx="10953750" cy="829245"/>
          </a:xfrm>
          <a:prstGeom xmlns:a="http://schemas.openxmlformats.org/drawingml/2006/main" prst="rect">
            <a:avLst/>
          </a:prstGeom>
        </p:spPr>
      </p:pic>
      <p:sp>
        <p:nvSpPr>
          <p:cNvPr id="5" name="repo">
            <a:extLst xmlns:a="http://schemas.openxmlformats.org/drawingml/2006/main">
              <a:ext uri="{FF2B5EF4-FFF2-40B4-BE49-F238E27FC236}">
                <a16:creationId xmlns:a16="http://schemas.microsoft.com/office/drawing/2014/main" id="{E3B27A09-5F69-46E4-91A5-D445E8535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ABB6C4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ABB6C4"/>
                </a:solidFill>
                <a:latin typeface="DejaVu Sans"/>
                <a:ea typeface="DejaVu Sans"/>
                <a:cs typeface="DejaVu Sans"/>
              </a:rPr>
              <a:t>github.com/meowzie081/flowdesk</a:t>
            </a:r>
          </a:p>
        </p:txBody>
      </p:sp>
      <p:sp>
        <p:nvSpPr>
          <p:cNvPr id="6" name="thanks">
            <a:extLst xmlns:a="http://schemas.openxmlformats.org/drawingml/2006/main">
              <a:ext uri="{FF2B5EF4-FFF2-40B4-BE49-F238E27FC236}">
                <a16:creationId xmlns:a16="http://schemas.microsoft.com/office/drawing/2014/main" id="{2D16B8EC-9081-4727-A5AE-47C59AFC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29325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0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0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0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0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0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0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0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0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0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CAA72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FCAA72"/>
                </a:solidFill>
                <a:latin typeface="DejaVu Sans"/>
                <a:ea typeface="DejaVu Sans"/>
                <a:cs typeface="DejaVu Sans"/>
              </a:rPr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10643335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DejaVu Sans"/>
        <a:ea typeface=""/>
        <a:cs typeface=""/>
      </a:majorFont>
      <a:minorFont>
        <a:latin typeface="DejaVu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2026-10-18T11:32:23.3040000Z</dcterms:created>
  <dcterms:modified xsi:type="dcterms:W3CDTF">2026-10-18T11:32:23.3050000Z</dcterms:modified>
</coreProperties>
</file>